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78" r:id="rId6"/>
    <p:sldId id="260" r:id="rId7"/>
    <p:sldId id="262" r:id="rId8"/>
    <p:sldId id="263" r:id="rId9"/>
    <p:sldId id="283" r:id="rId10"/>
    <p:sldId id="284" r:id="rId11"/>
    <p:sldId id="279" r:id="rId12"/>
    <p:sldId id="280" r:id="rId13"/>
    <p:sldId id="267" r:id="rId14"/>
    <p:sldId id="275" r:id="rId15"/>
    <p:sldId id="276" r:id="rId16"/>
    <p:sldId id="277" r:id="rId17"/>
    <p:sldId id="271" r:id="rId18"/>
    <p:sldId id="281" r:id="rId19"/>
    <p:sldId id="282" r:id="rId20"/>
    <p:sldId id="285" r:id="rId21"/>
    <p:sldId id="286" r:id="rId22"/>
    <p:sldId id="287" r:id="rId23"/>
    <p:sldId id="288" r:id="rId24"/>
    <p:sldId id="274"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106"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012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249A4-D4FD-C17E-3B0C-F5DA2D39E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42803-7375-3534-6627-EE77F79A0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1C46D-6E36-55EE-829E-A8E798D6E3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6D8B0-F3A8-5AA3-AF07-54A8F0556EE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51231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732BE-0E1D-0CE3-6399-CD65C8C83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F9D2F-9BB4-0DB2-FF79-AB6BD9028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FA961-9578-145F-EE43-580EFEB96F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5AE61B-7F20-CBCC-3F1C-8B653DC32CD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05067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5D9B-E93B-B0A8-D267-F9707D01D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74DE5-02BB-8E82-38F3-CD8F7204F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6AE6F-6268-D05F-D825-AAEB6DE646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95B3C8-4010-748C-0233-3EE041F29B9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738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8F594-BEA8-7D2B-8E4B-952D56536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CBFFF-1444-E806-661E-96F4115CE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FACE-7A15-4FCF-89E3-B74E010030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47CA8C-70FB-B272-151E-918B9082DF9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7195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A24B-EEF6-FA38-3D14-C8E6B9DD7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38C06-2A72-0C55-EE0F-9489DD79F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57B42-15EC-C536-3151-B1795D381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36DF44-3C26-13D8-D91D-E3D3A212F81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0223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00A-C8F3-A478-3326-E7D532628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CE860-DE7F-6F9C-5E25-C4EE5E28B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5A6AD-B6A4-9EFE-3D51-49A5E08D14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F55E02-D1CE-F35D-313A-7AF7F2D73D7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02432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8D05F-3882-3402-5F64-44B4DB8FD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5AB70-4A65-BBC2-EB05-8B57D1A93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F600B-9117-A33F-A527-D631AC7B4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5E0FE2-6E56-22BC-CF36-E9E2E020BBC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394865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416F-F41F-8076-1B12-FB40DD4A9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D8709-AF4A-AF41-6302-EFD4C906E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F4BCFF-96DC-37DE-38BC-AA90A6DDF4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2F54E7-89AA-94EB-5E90-7254FFE9BBB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369794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79E4E-E3F9-0B56-6FA9-05106B0E6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BF777-6CD7-DDF9-15E0-158BE9262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C06D8-7045-6569-62E6-8083F8E61A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B588F7-DF05-E7EA-9B32-E1B5F9FF52F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29446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5E8F3-EC3E-8FA9-248D-111D32DB1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A1EDC-7D34-DD15-90EA-845D7625D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627BD-5340-C1D8-BDF8-4039894FC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C77521-04E9-C09B-184E-13D19F87112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38440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BC32-A489-6055-D2C5-CE154E328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83430-FDDF-ED41-2EE5-06B0094BA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AAB30-1D0E-7C19-D3AD-AF556DB2D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9EA19-C4F0-A4EA-6221-D388488CC13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30813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0234C-64C2-E127-2A84-831AAEF63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F2BA3-FC1D-EB38-B071-1E22AEA19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1F58A-30D7-60D3-E8FF-3C9410C092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90CD3-FBEF-85E1-3120-AF7625976688}"/>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650229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D6A87-2E5C-5ECB-BF25-D3A3223C6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6595C-040E-4B16-F6E6-8B79BBB77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90DD9-98FD-CA98-1D17-49698BF10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EBFED-40E0-6261-5067-B9323EAFFD2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503886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48DE-687C-7293-EB8F-775F87BBA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E739C-1D50-2B65-3746-4E79140D2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DD9CF-D982-DA3D-5FB3-CA73B66B54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0CE8D-9BD2-2326-6369-45581CE6320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264258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1500188"/>
            <a:ext cx="8001000" cy="666750"/>
          </a:xfrm>
          <a:prstGeom prst="rect">
            <a:avLst/>
          </a:prstGeom>
          <a:noFill/>
          <a:ln/>
        </p:spPr>
        <p:txBody>
          <a:bodyPr vert="horz" wrap="square" lIns="0" tIns="0" rIns="0" bIns="0" rtlCol="0" anchor="ctr"/>
          <a:lstStyle/>
          <a:p>
            <a:pPr marL="0" indent="0" algn="l">
              <a:lnSpc>
                <a:spcPts val="5250"/>
              </a:lnSpc>
              <a:buNone/>
            </a:pPr>
            <a:r>
              <a:rPr lang="en-US" sz="3750" b="1" dirty="0">
                <a:solidFill>
                  <a:schemeClr val="accent1"/>
                </a:solidFill>
                <a:latin typeface="Microsoft YaHei" pitchFamily="34" charset="0"/>
                <a:ea typeface="Microsoft YaHei" pitchFamily="34" charset="-122"/>
                <a:cs typeface="Microsoft YaHei" pitchFamily="34" charset="-120"/>
              </a:rPr>
              <a:t>EchoLogic</a:t>
            </a:r>
            <a:endParaRPr lang="en-US" sz="3750" dirty="0">
              <a:solidFill>
                <a:schemeClr val="accent1"/>
              </a:solidFill>
            </a:endParaRPr>
          </a:p>
        </p:txBody>
      </p:sp>
      <p:sp>
        <p:nvSpPr>
          <p:cNvPr id="4" name="Text 1"/>
          <p:cNvSpPr/>
          <p:nvPr/>
        </p:nvSpPr>
        <p:spPr>
          <a:xfrm>
            <a:off x="571500" y="2243138"/>
            <a:ext cx="8001000" cy="400050"/>
          </a:xfrm>
          <a:prstGeom prst="rect">
            <a:avLst/>
          </a:prstGeom>
          <a:noFill/>
          <a:ln/>
        </p:spPr>
        <p:txBody>
          <a:bodyPr vert="horz" wrap="square" lIns="0" tIns="0" rIns="0" bIns="0" rtlCol="0" anchor="ctr"/>
          <a:lstStyle/>
          <a:p>
            <a:pPr marL="0" indent="0" algn="l">
              <a:lnSpc>
                <a:spcPts val="3150"/>
              </a:lnSpc>
              <a:buNone/>
            </a:pPr>
            <a:r>
              <a:rPr lang="en-US" sz="2250" dirty="0">
                <a:solidFill>
                  <a:schemeClr val="accent1">
                    <a:lumMod val="75000"/>
                  </a:schemeClr>
                </a:solidFill>
                <a:latin typeface="Microsoft YaHei" pitchFamily="34" charset="0"/>
                <a:ea typeface="Microsoft YaHei" pitchFamily="34" charset="-122"/>
                <a:cs typeface="Microsoft YaHei" pitchFamily="34" charset="-120"/>
              </a:rPr>
              <a:t>alpha-dash</a:t>
            </a:r>
            <a:endParaRPr lang="en-US" sz="2250" dirty="0">
              <a:solidFill>
                <a:schemeClr val="accent1">
                  <a:lumMod val="75000"/>
                </a:schemeClr>
              </a:solidFill>
            </a:endParaRPr>
          </a:p>
        </p:txBody>
      </p:sp>
      <p:sp>
        <p:nvSpPr>
          <p:cNvPr id="5" name="Shape 2"/>
          <p:cNvSpPr/>
          <p:nvPr/>
        </p:nvSpPr>
        <p:spPr>
          <a:xfrm>
            <a:off x="571500" y="2976563"/>
            <a:ext cx="604838" cy="114300"/>
          </a:xfrm>
          <a:prstGeom prst="rect">
            <a:avLst/>
          </a:prstGeom>
          <a:solidFill>
            <a:srgbClr val="5662EB"/>
          </a:solidFill>
          <a:ln/>
        </p:spPr>
      </p:sp>
      <p:sp>
        <p:nvSpPr>
          <p:cNvPr id="6" name="Text 3"/>
          <p:cNvSpPr/>
          <p:nvPr/>
        </p:nvSpPr>
        <p:spPr>
          <a:xfrm>
            <a:off x="571500" y="3424238"/>
            <a:ext cx="8001000" cy="219075"/>
          </a:xfrm>
          <a:prstGeom prst="rect">
            <a:avLst/>
          </a:prstGeom>
          <a:noFill/>
          <a:ln/>
        </p:spPr>
        <p:txBody>
          <a:bodyPr vert="horz" wrap="square" lIns="0" tIns="0" rIns="0" bIns="0" rtlCol="0" anchor="ctr"/>
          <a:lstStyle/>
          <a:p>
            <a:pPr marL="0" indent="0" algn="l">
              <a:lnSpc>
                <a:spcPts val="1725"/>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pic>
        <p:nvPicPr>
          <p:cNvPr id="4" name="Image 1" descr="preencoded.png"/>
          <p:cNvPicPr>
            <a:picLocks noChangeAspect="1"/>
          </p:cNvPicPr>
          <p:nvPr/>
        </p:nvPicPr>
        <p:blipFill>
          <a:blip r:embed="rId4"/>
          <a:srcRect t="6452" b="6452"/>
          <a:stretch/>
        </p:blipFill>
        <p:spPr>
          <a:xfrm>
            <a:off x="0" y="0"/>
            <a:ext cx="2952750" cy="5143500"/>
          </a:xfrm>
          <a:prstGeom prst="rect">
            <a:avLst/>
          </a:prstGeom>
        </p:spPr>
      </p:pic>
      <p:sp>
        <p:nvSpPr>
          <p:cNvPr id="5" name="Text 1"/>
          <p:cNvSpPr/>
          <p:nvPr/>
        </p:nvSpPr>
        <p:spPr>
          <a:xfrm>
            <a:off x="571500" y="3433763"/>
            <a:ext cx="1857375"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content</a:t>
            </a:r>
            <a:endParaRPr lang="en-US" sz="3750" dirty="0"/>
          </a:p>
        </p:txBody>
      </p:sp>
      <p:sp>
        <p:nvSpPr>
          <p:cNvPr id="6" name="Text 2"/>
          <p:cNvSpPr/>
          <p:nvPr/>
        </p:nvSpPr>
        <p:spPr>
          <a:xfrm>
            <a:off x="571500" y="4176713"/>
            <a:ext cx="180975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FFFFFF"/>
                </a:solidFill>
                <a:latin typeface="Microsoft YaHei" pitchFamily="34" charset="0"/>
                <a:ea typeface="Microsoft YaHei" pitchFamily="34" charset="-122"/>
                <a:cs typeface="Microsoft YaHei" pitchFamily="34" charset="-120"/>
              </a:rPr>
              <a:t>目录</a:t>
            </a:r>
            <a:endParaRPr lang="en-US" sz="2250" dirty="0"/>
          </a:p>
        </p:txBody>
      </p:sp>
      <p:sp>
        <p:nvSpPr>
          <p:cNvPr id="7" name="Text 3"/>
          <p:cNvSpPr/>
          <p:nvPr/>
        </p:nvSpPr>
        <p:spPr>
          <a:xfrm>
            <a:off x="3524250" y="1650206"/>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5662EB"/>
                </a:solidFill>
                <a:latin typeface="Microsoft YaHei" pitchFamily="34" charset="0"/>
                <a:ea typeface="Microsoft YaHei" pitchFamily="34" charset="-122"/>
                <a:cs typeface="Microsoft YaHei" pitchFamily="34" charset="-120"/>
              </a:rPr>
              <a:t>01</a:t>
            </a:r>
            <a:endParaRPr lang="en-US" sz="1875" dirty="0"/>
          </a:p>
        </p:txBody>
      </p:sp>
      <p:sp>
        <p:nvSpPr>
          <p:cNvPr id="8" name="Text 4"/>
          <p:cNvSpPr/>
          <p:nvPr/>
        </p:nvSpPr>
        <p:spPr>
          <a:xfrm>
            <a:off x="3990975" y="1721643"/>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成员分工和预期计划</a:t>
            </a:r>
            <a:endParaRPr lang="en-US" sz="1200" dirty="0"/>
          </a:p>
        </p:txBody>
      </p:sp>
      <p:sp>
        <p:nvSpPr>
          <p:cNvPr id="9" name="Text 5"/>
          <p:cNvSpPr/>
          <p:nvPr/>
        </p:nvSpPr>
        <p:spPr>
          <a:xfrm>
            <a:off x="3990975" y="1969293"/>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3524250" y="2278856"/>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5662EB"/>
                </a:solidFill>
                <a:latin typeface="Microsoft YaHei" pitchFamily="34" charset="0"/>
                <a:ea typeface="Microsoft YaHei" pitchFamily="34" charset="-122"/>
                <a:cs typeface="Microsoft YaHei" pitchFamily="34" charset="-120"/>
              </a:rPr>
              <a:t>02</a:t>
            </a:r>
            <a:endParaRPr lang="en-US" sz="1875" dirty="0"/>
          </a:p>
        </p:txBody>
      </p:sp>
      <p:sp>
        <p:nvSpPr>
          <p:cNvPr id="11" name="Text 7"/>
          <p:cNvSpPr/>
          <p:nvPr/>
        </p:nvSpPr>
        <p:spPr>
          <a:xfrm>
            <a:off x="3990975" y="2350293"/>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研发进展</a:t>
            </a:r>
            <a:endParaRPr lang="en-US" sz="1200" dirty="0"/>
          </a:p>
        </p:txBody>
      </p:sp>
      <p:sp>
        <p:nvSpPr>
          <p:cNvPr id="12" name="Text 8"/>
          <p:cNvSpPr/>
          <p:nvPr/>
        </p:nvSpPr>
        <p:spPr>
          <a:xfrm>
            <a:off x="3990975" y="2597943"/>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3524250" y="2907506"/>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5662EB"/>
                </a:solidFill>
                <a:latin typeface="Microsoft YaHei" pitchFamily="34" charset="0"/>
                <a:ea typeface="Microsoft YaHei" pitchFamily="34" charset="-122"/>
                <a:cs typeface="Microsoft YaHei" pitchFamily="34" charset="-120"/>
              </a:rPr>
              <a:t>03</a:t>
            </a:r>
            <a:endParaRPr lang="en-US" sz="1875" dirty="0"/>
          </a:p>
        </p:txBody>
      </p:sp>
      <p:sp>
        <p:nvSpPr>
          <p:cNvPr id="14" name="Text 10"/>
          <p:cNvSpPr/>
          <p:nvPr/>
        </p:nvSpPr>
        <p:spPr>
          <a:xfrm>
            <a:off x="3990975" y="2978943"/>
            <a:ext cx="4581525" cy="209550"/>
          </a:xfrm>
          <a:prstGeom prst="rect">
            <a:avLst/>
          </a:prstGeom>
          <a:noFill/>
          <a:ln/>
        </p:spPr>
        <p:txBody>
          <a:bodyPr vert="horz" wrap="square" lIns="0" tIns="0" rIns="0" bIns="0" rtlCol="0" anchor="ctr"/>
          <a:lstStyle/>
          <a:p>
            <a:pPr marL="0" indent="0" algn="l">
              <a:lnSpc>
                <a:spcPts val="1650"/>
              </a:lnSpc>
              <a:buNone/>
            </a:pPr>
            <a:r>
              <a:rPr lang="en-US" sz="1200" b="1" dirty="0" err="1">
                <a:solidFill>
                  <a:srgbClr val="333333"/>
                </a:solidFill>
                <a:latin typeface="Microsoft YaHei" pitchFamily="34" charset="0"/>
                <a:ea typeface="Microsoft YaHei" pitchFamily="34" charset="-122"/>
                <a:cs typeface="Microsoft YaHei" pitchFamily="34" charset="-120"/>
              </a:rPr>
              <a:t>系统架构</a:t>
            </a:r>
            <a:r>
              <a:rPr lang="zh-CN" altLang="en-US" sz="1200" b="1" dirty="0">
                <a:solidFill>
                  <a:srgbClr val="333333"/>
                </a:solidFill>
                <a:latin typeface="Microsoft YaHei" pitchFamily="34" charset="0"/>
                <a:ea typeface="Microsoft YaHei" pitchFamily="34" charset="-122"/>
                <a:cs typeface="Microsoft YaHei" pitchFamily="34" charset="-120"/>
              </a:rPr>
              <a:t>与测试</a:t>
            </a:r>
            <a:endParaRPr lang="en-US" sz="1200" dirty="0"/>
          </a:p>
        </p:txBody>
      </p:sp>
      <p:sp>
        <p:nvSpPr>
          <p:cNvPr id="15" name="Text 11"/>
          <p:cNvSpPr/>
          <p:nvPr/>
        </p:nvSpPr>
        <p:spPr>
          <a:xfrm>
            <a:off x="3990975" y="3226593"/>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7" name="Text 10">
            <a:extLst>
              <a:ext uri="{FF2B5EF4-FFF2-40B4-BE49-F238E27FC236}">
                <a16:creationId xmlns:a16="http://schemas.microsoft.com/office/drawing/2014/main" id="{B764E028-B5A4-F883-63F0-DE325B9700CD}"/>
              </a:ext>
            </a:extLst>
          </p:cNvPr>
          <p:cNvSpPr/>
          <p:nvPr/>
        </p:nvSpPr>
        <p:spPr>
          <a:xfrm>
            <a:off x="3990975" y="3302793"/>
            <a:ext cx="4581525"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8" name="Text 9">
            <a:extLst>
              <a:ext uri="{FF2B5EF4-FFF2-40B4-BE49-F238E27FC236}">
                <a16:creationId xmlns:a16="http://schemas.microsoft.com/office/drawing/2014/main" id="{F4AA5E5D-11EC-63F6-9B65-89A32628F2A1}"/>
              </a:ext>
            </a:extLst>
          </p:cNvPr>
          <p:cNvSpPr/>
          <p:nvPr/>
        </p:nvSpPr>
        <p:spPr>
          <a:xfrm>
            <a:off x="3524250" y="3461171"/>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5662EB"/>
                </a:solidFill>
                <a:latin typeface="Microsoft YaHei" pitchFamily="34" charset="0"/>
                <a:ea typeface="Microsoft YaHei" pitchFamily="34" charset="-122"/>
                <a:cs typeface="Microsoft YaHei" pitchFamily="34" charset="-120"/>
              </a:rPr>
              <a:t>04</a:t>
            </a:r>
            <a:endParaRPr lang="en-US" sz="1875" dirty="0"/>
          </a:p>
        </p:txBody>
      </p:sp>
      <p:sp>
        <p:nvSpPr>
          <p:cNvPr id="19" name="Text 10">
            <a:extLst>
              <a:ext uri="{FF2B5EF4-FFF2-40B4-BE49-F238E27FC236}">
                <a16:creationId xmlns:a16="http://schemas.microsoft.com/office/drawing/2014/main" id="{CFBEA139-2D60-EBDC-E565-123283FA147E}"/>
              </a:ext>
            </a:extLst>
          </p:cNvPr>
          <p:cNvSpPr/>
          <p:nvPr/>
        </p:nvSpPr>
        <p:spPr>
          <a:xfrm>
            <a:off x="3990975" y="3512343"/>
            <a:ext cx="4581525" cy="209550"/>
          </a:xfrm>
          <a:prstGeom prst="rect">
            <a:avLst/>
          </a:prstGeom>
          <a:noFill/>
          <a:ln/>
        </p:spPr>
        <p:txBody>
          <a:bodyPr vert="horz" wrap="square" lIns="0" tIns="0" rIns="0" bIns="0" rtlCol="0" anchor="ctr"/>
          <a:lstStyle/>
          <a:p>
            <a:pPr marL="0" indent="0" algn="l">
              <a:lnSpc>
                <a:spcPts val="1650"/>
              </a:lnSpc>
              <a:buNone/>
            </a:pPr>
            <a:r>
              <a:rPr lang="zh-CN" altLang="en-US" sz="1200" b="1" dirty="0">
                <a:solidFill>
                  <a:srgbClr val="333333"/>
                </a:solidFill>
                <a:latin typeface="Microsoft YaHei" pitchFamily="34" charset="0"/>
                <a:ea typeface="Microsoft YaHei" pitchFamily="34" charset="-122"/>
              </a:rPr>
              <a:t>成员体会</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成员分工和预期计划</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9F5FF"/>
                </a:solidFill>
                <a:latin typeface="Microsoft YaHei" pitchFamily="34" charset="0"/>
                <a:ea typeface="Microsoft YaHei" pitchFamily="34" charset="-122"/>
                <a:cs typeface="Microsoft YaHei" pitchFamily="34" charset="-120"/>
              </a:rPr>
              <a:t>01</a:t>
            </a:r>
            <a:endParaRPr lang="en-US" sz="2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838825"/>
          </a:xfrm>
          <a:prstGeom prst="rect">
            <a:avLst/>
          </a:prstGeom>
          <a:solidFill>
            <a:srgbClr val="FFFFFF"/>
          </a:solidFill>
          <a:ln/>
        </p:spPr>
      </p:sp>
      <p:pic>
        <p:nvPicPr>
          <p:cNvPr id="3" name="Image 0" descr="preencoded.png"/>
          <p:cNvPicPr>
            <a:picLocks noChangeAspect="1"/>
          </p:cNvPicPr>
          <p:nvPr/>
        </p:nvPicPr>
        <p:blipFill>
          <a:blip r:embed="rId3"/>
          <a:srcRect l="5954" r="5954"/>
          <a:stretch/>
        </p:blipFill>
        <p:spPr>
          <a:xfrm>
            <a:off x="0" y="-1"/>
            <a:ext cx="9144000" cy="5838825"/>
          </a:xfrm>
          <a:prstGeom prst="rect">
            <a:avLst/>
          </a:prstGeom>
        </p:spPr>
      </p:pic>
      <p:sp>
        <p:nvSpPr>
          <p:cNvPr id="4" name="Text 1"/>
          <p:cNvSpPr/>
          <p:nvPr/>
        </p:nvSpPr>
        <p:spPr>
          <a:xfrm>
            <a:off x="571500" y="5524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成员</a:t>
            </a:r>
            <a:r>
              <a:rPr lang="en-US" sz="2250" b="1" dirty="0">
                <a:solidFill>
                  <a:srgbClr val="333333"/>
                </a:solidFill>
                <a:latin typeface="Microsoft YaHei" pitchFamily="34" charset="0"/>
                <a:ea typeface="Microsoft YaHei" pitchFamily="34" charset="-122"/>
                <a:cs typeface="Microsoft YaHei" pitchFamily="34" charset="-120"/>
              </a:rPr>
              <a:t>分工：1产品经理 + 1项目经理 + 2前端 + 5</a:t>
            </a:r>
            <a:r>
              <a:rPr lang="zh-CN" altLang="en-US" sz="2250" b="1" dirty="0">
                <a:solidFill>
                  <a:srgbClr val="333333"/>
                </a:solidFill>
                <a:latin typeface="Microsoft YaHei" pitchFamily="34" charset="0"/>
                <a:ea typeface="Microsoft YaHei" pitchFamily="34" charset="-122"/>
                <a:cs typeface="Microsoft YaHei" pitchFamily="34" charset="-120"/>
              </a:rPr>
              <a:t>后端 </a:t>
            </a:r>
            <a:r>
              <a:rPr lang="en-US" altLang="zh-CN" sz="2250" b="1" dirty="0">
                <a:solidFill>
                  <a:srgbClr val="333333"/>
                </a:solidFill>
                <a:latin typeface="Microsoft YaHei" pitchFamily="34" charset="0"/>
                <a:ea typeface="Microsoft YaHei" pitchFamily="34" charset="-122"/>
                <a:cs typeface="Microsoft YaHei" pitchFamily="34" charset="-120"/>
              </a:rPr>
              <a:t>+ 2</a:t>
            </a:r>
            <a:r>
              <a:rPr lang="zh-CN" altLang="en-US" sz="2250" b="1" dirty="0">
                <a:solidFill>
                  <a:srgbClr val="333333"/>
                </a:solidFill>
                <a:latin typeface="Microsoft YaHei" pitchFamily="34" charset="0"/>
                <a:ea typeface="Microsoft YaHei" pitchFamily="34" charset="-122"/>
                <a:cs typeface="Microsoft YaHei" pitchFamily="34" charset="-120"/>
              </a:rPr>
              <a:t>测试</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graphicFrame>
        <p:nvGraphicFramePr>
          <p:cNvPr id="7" name="表格 6">
            <a:extLst>
              <a:ext uri="{FF2B5EF4-FFF2-40B4-BE49-F238E27FC236}">
                <a16:creationId xmlns:a16="http://schemas.microsoft.com/office/drawing/2014/main" id="{167E66BE-B611-4989-1856-0A7B2FCD792E}"/>
              </a:ext>
            </a:extLst>
          </p:cNvPr>
          <p:cNvGraphicFramePr>
            <a:graphicFrameLocks noGrp="1"/>
          </p:cNvGraphicFramePr>
          <p:nvPr>
            <p:extLst>
              <p:ext uri="{D42A27DB-BD31-4B8C-83A1-F6EECF244321}">
                <p14:modId xmlns:p14="http://schemas.microsoft.com/office/powerpoint/2010/main" val="952615603"/>
              </p:ext>
            </p:extLst>
          </p:nvPr>
        </p:nvGraphicFramePr>
        <p:xfrm>
          <a:off x="622394" y="1488203"/>
          <a:ext cx="3906064" cy="3287459"/>
        </p:xfrm>
        <a:graphic>
          <a:graphicData uri="http://schemas.openxmlformats.org/drawingml/2006/table">
            <a:tbl>
              <a:tblPr/>
              <a:tblGrid>
                <a:gridCol w="1953032">
                  <a:extLst>
                    <a:ext uri="{9D8B030D-6E8A-4147-A177-3AD203B41FA5}">
                      <a16:colId xmlns:a16="http://schemas.microsoft.com/office/drawing/2014/main" val="633157814"/>
                    </a:ext>
                  </a:extLst>
                </a:gridCol>
                <a:gridCol w="1953032">
                  <a:extLst>
                    <a:ext uri="{9D8B030D-6E8A-4147-A177-3AD203B41FA5}">
                      <a16:colId xmlns:a16="http://schemas.microsoft.com/office/drawing/2014/main" val="3429669796"/>
                    </a:ext>
                  </a:extLst>
                </a:gridCol>
              </a:tblGrid>
              <a:tr h="271859">
                <a:tc>
                  <a:txBody>
                    <a:bodyPr/>
                    <a:lstStyle/>
                    <a:p>
                      <a:pPr algn="ctr" fontAlgn="base">
                        <a:buNone/>
                      </a:pPr>
                      <a:r>
                        <a:rPr lang="zh-CN" altLang="en-US" sz="1400" b="1" dirty="0">
                          <a:effectLst/>
                          <a:latin typeface="微软雅黑" panose="020B0503020204020204" pitchFamily="34" charset="-122"/>
                          <a:ea typeface="微软雅黑" panose="020B0503020204020204" pitchFamily="34" charset="-122"/>
                        </a:rPr>
                        <a:t>成员</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b="1" dirty="0">
                          <a:effectLst/>
                          <a:latin typeface="微软雅黑" panose="020B0503020204020204" pitchFamily="34" charset="-122"/>
                          <a:ea typeface="微软雅黑" panose="020B0503020204020204" pitchFamily="34" charset="-122"/>
                        </a:rPr>
                        <a:t>分工</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744927393"/>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102301642-</a:t>
                      </a:r>
                      <a:r>
                        <a:rPr lang="zh-CN" altLang="en-US" sz="1200" dirty="0">
                          <a:effectLst/>
                          <a:latin typeface="微软雅黑" panose="020B0503020204020204" pitchFamily="34" charset="-122"/>
                          <a:ea typeface="微软雅黑" panose="020B0503020204020204" pitchFamily="34" charset="-122"/>
                        </a:rPr>
                        <a:t>鲍宇轩</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a:effectLst/>
                          <a:latin typeface="微软雅黑" panose="020B0503020204020204" pitchFamily="34" charset="-122"/>
                          <a:ea typeface="微软雅黑" panose="020B0503020204020204" pitchFamily="34" charset="-122"/>
                        </a:rPr>
                        <a:t>项目经理</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241412805"/>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102301328-</a:t>
                      </a:r>
                      <a:r>
                        <a:rPr lang="zh-CN" altLang="en-US" sz="1200" dirty="0">
                          <a:effectLst/>
                          <a:latin typeface="微软雅黑" panose="020B0503020204020204" pitchFamily="34" charset="-122"/>
                          <a:ea typeface="微软雅黑" panose="020B0503020204020204" pitchFamily="34" charset="-122"/>
                        </a:rPr>
                        <a:t>林昊</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产品经理</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43745262"/>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102301316-</a:t>
                      </a:r>
                      <a:r>
                        <a:rPr lang="zh-CN" altLang="en-US" sz="1200" dirty="0">
                          <a:effectLst/>
                          <a:latin typeface="微软雅黑" panose="020B0503020204020204" pitchFamily="34" charset="-122"/>
                          <a:ea typeface="微软雅黑" panose="020B0503020204020204" pitchFamily="34" charset="-122"/>
                        </a:rPr>
                        <a:t>余睿康</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前端</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265575739"/>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102301635-</a:t>
                      </a:r>
                      <a:r>
                        <a:rPr lang="zh-CN" altLang="en-US" sz="1200" dirty="0">
                          <a:effectLst/>
                          <a:latin typeface="微软雅黑" panose="020B0503020204020204" pitchFamily="34" charset="-122"/>
                          <a:ea typeface="微软雅黑" panose="020B0503020204020204" pitchFamily="34" charset="-122"/>
                        </a:rPr>
                        <a:t>傅世杰</a:t>
                      </a:r>
                      <a:endParaRPr lang="en-US" altLang="zh-CN" sz="1200" dirty="0">
                        <a:effectLst/>
                        <a:latin typeface="微软雅黑" panose="020B0503020204020204" pitchFamily="34" charset="-122"/>
                        <a:ea typeface="微软雅黑" panose="020B0503020204020204" pitchFamily="34" charset="-122"/>
                      </a:endParaRP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前端</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642350878"/>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102301338-</a:t>
                      </a:r>
                      <a:r>
                        <a:rPr lang="zh-CN" altLang="en-US" sz="1200" dirty="0">
                          <a:effectLst/>
                          <a:latin typeface="微软雅黑" panose="020B0503020204020204" pitchFamily="34" charset="-122"/>
                          <a:ea typeface="微软雅黑" panose="020B0503020204020204" pitchFamily="34" charset="-122"/>
                        </a:rPr>
                        <a:t>郭砚康</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测试</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894575191"/>
                  </a:ext>
                </a:extLst>
              </a:tr>
              <a:tr h="271859">
                <a:tc>
                  <a:txBody>
                    <a:bodyPr/>
                    <a:lstStyle/>
                    <a:p>
                      <a:pPr algn="ctr" fontAlgn="base">
                        <a:buNone/>
                      </a:pPr>
                      <a:r>
                        <a:rPr lang="en-US" altLang="zh-CN" sz="1200" dirty="0">
                          <a:effectLst/>
                          <a:latin typeface="微软雅黑" panose="020B0503020204020204" pitchFamily="34" charset="-122"/>
                          <a:ea typeface="微软雅黑" panose="020B0503020204020204" pitchFamily="34" charset="-122"/>
                        </a:rPr>
                        <a:t>102301337-</a:t>
                      </a:r>
                      <a:r>
                        <a:rPr lang="zh-CN" altLang="en-US" sz="1200" dirty="0">
                          <a:effectLst/>
                          <a:latin typeface="微软雅黑" panose="020B0503020204020204" pitchFamily="34" charset="-122"/>
                          <a:ea typeface="微软雅黑" panose="020B0503020204020204" pitchFamily="34" charset="-122"/>
                        </a:rPr>
                        <a:t>郭泽凯</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测试</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72555698"/>
                  </a:ext>
                </a:extLst>
              </a:tr>
              <a:tr h="271859">
                <a:tc>
                  <a:txBody>
                    <a:bodyPr/>
                    <a:lstStyle/>
                    <a:p>
                      <a:pPr algn="ctr" fontAlgn="base">
                        <a:buNone/>
                      </a:pPr>
                      <a:r>
                        <a:rPr lang="en-US" altLang="zh-CN" sz="1200">
                          <a:effectLst/>
                          <a:latin typeface="微软雅黑" panose="020B0503020204020204" pitchFamily="34" charset="-122"/>
                          <a:ea typeface="微软雅黑" panose="020B0503020204020204" pitchFamily="34" charset="-122"/>
                        </a:rPr>
                        <a:t>102301311-</a:t>
                      </a:r>
                      <a:r>
                        <a:rPr lang="zh-CN" altLang="en-US" sz="1200">
                          <a:effectLst/>
                          <a:latin typeface="微软雅黑" panose="020B0503020204020204" pitchFamily="34" charset="-122"/>
                          <a:ea typeface="微软雅黑" panose="020B0503020204020204" pitchFamily="34" charset="-122"/>
                        </a:rPr>
                        <a:t>张艺宝</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后端（模块</a:t>
                      </a:r>
                      <a:r>
                        <a:rPr lang="en-US" altLang="zh-CN" sz="1200" dirty="0">
                          <a:effectLst/>
                          <a:latin typeface="微软雅黑" panose="020B0503020204020204" pitchFamily="34" charset="-122"/>
                          <a:ea typeface="微软雅黑" panose="020B0503020204020204" pitchFamily="34" charset="-122"/>
                        </a:rPr>
                        <a:t>1,3</a:t>
                      </a:r>
                      <a:r>
                        <a:rPr lang="zh-CN" altLang="en-US" sz="1200" dirty="0">
                          <a:effectLst/>
                          <a:latin typeface="微软雅黑" panose="020B0503020204020204" pitchFamily="34" charset="-122"/>
                          <a:ea typeface="微软雅黑" panose="020B0503020204020204" pitchFamily="34" charset="-122"/>
                        </a:rPr>
                        <a:t>）</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31235354"/>
                  </a:ext>
                </a:extLst>
              </a:tr>
              <a:tr h="271859">
                <a:tc>
                  <a:txBody>
                    <a:bodyPr/>
                    <a:lstStyle/>
                    <a:p>
                      <a:pPr algn="ctr" fontAlgn="base">
                        <a:buNone/>
                      </a:pPr>
                      <a:r>
                        <a:rPr lang="en-US" altLang="zh-CN" sz="1200">
                          <a:effectLst/>
                          <a:latin typeface="微软雅黑" panose="020B0503020204020204" pitchFamily="34" charset="-122"/>
                          <a:ea typeface="微软雅黑" panose="020B0503020204020204" pitchFamily="34" charset="-122"/>
                        </a:rPr>
                        <a:t>102301336-</a:t>
                      </a:r>
                      <a:r>
                        <a:rPr lang="zh-CN" altLang="en-US" sz="1200">
                          <a:effectLst/>
                          <a:latin typeface="微软雅黑" panose="020B0503020204020204" pitchFamily="34" charset="-122"/>
                          <a:ea typeface="微软雅黑" panose="020B0503020204020204" pitchFamily="34" charset="-122"/>
                        </a:rPr>
                        <a:t>何顺康</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后端（模块</a:t>
                      </a:r>
                      <a:r>
                        <a:rPr lang="en-US" altLang="zh-CN" sz="1200" dirty="0">
                          <a:effectLst/>
                          <a:latin typeface="微软雅黑" panose="020B0503020204020204" pitchFamily="34" charset="-122"/>
                          <a:ea typeface="微软雅黑" panose="020B0503020204020204" pitchFamily="34" charset="-122"/>
                        </a:rPr>
                        <a:t>2</a:t>
                      </a:r>
                      <a:r>
                        <a:rPr lang="zh-CN" altLang="en-US" sz="1200" dirty="0">
                          <a:effectLst/>
                          <a:latin typeface="微软雅黑" panose="020B0503020204020204" pitchFamily="34" charset="-122"/>
                          <a:ea typeface="微软雅黑" panose="020B0503020204020204" pitchFamily="34" charset="-122"/>
                        </a:rPr>
                        <a:t>）</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741117821"/>
                  </a:ext>
                </a:extLst>
              </a:tr>
              <a:tr h="271859">
                <a:tc>
                  <a:txBody>
                    <a:bodyPr/>
                    <a:lstStyle/>
                    <a:p>
                      <a:pPr algn="ctr" fontAlgn="base">
                        <a:buNone/>
                      </a:pPr>
                      <a:r>
                        <a:rPr lang="en-US" altLang="zh-CN" sz="1200">
                          <a:effectLst/>
                          <a:latin typeface="微软雅黑" panose="020B0503020204020204" pitchFamily="34" charset="-122"/>
                          <a:ea typeface="微软雅黑" panose="020B0503020204020204" pitchFamily="34" charset="-122"/>
                        </a:rPr>
                        <a:t>102301340-</a:t>
                      </a:r>
                      <a:r>
                        <a:rPr lang="zh-CN" altLang="en-US" sz="1200">
                          <a:effectLst/>
                          <a:latin typeface="微软雅黑" panose="020B0503020204020204" pitchFamily="34" charset="-122"/>
                          <a:ea typeface="微软雅黑" panose="020B0503020204020204" pitchFamily="34" charset="-122"/>
                        </a:rPr>
                        <a:t>范智杰</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后端（模块</a:t>
                      </a:r>
                      <a:r>
                        <a:rPr lang="en-US" altLang="zh-CN" sz="1200" dirty="0">
                          <a:effectLst/>
                          <a:latin typeface="微软雅黑" panose="020B0503020204020204" pitchFamily="34" charset="-122"/>
                          <a:ea typeface="微软雅黑" panose="020B0503020204020204" pitchFamily="34" charset="-122"/>
                        </a:rPr>
                        <a:t>4</a:t>
                      </a:r>
                      <a:r>
                        <a:rPr lang="zh-CN" altLang="en-US" sz="1200" dirty="0">
                          <a:effectLst/>
                          <a:latin typeface="微软雅黑" panose="020B0503020204020204" pitchFamily="34" charset="-122"/>
                          <a:ea typeface="微软雅黑" panose="020B0503020204020204" pitchFamily="34" charset="-122"/>
                        </a:rPr>
                        <a:t>）</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734561255"/>
                  </a:ext>
                </a:extLst>
              </a:tr>
              <a:tr h="271859">
                <a:tc>
                  <a:txBody>
                    <a:bodyPr/>
                    <a:lstStyle/>
                    <a:p>
                      <a:pPr algn="ctr" fontAlgn="base">
                        <a:buNone/>
                      </a:pPr>
                      <a:r>
                        <a:rPr lang="en-US" altLang="zh-CN" sz="1200">
                          <a:effectLst/>
                          <a:latin typeface="微软雅黑" panose="020B0503020204020204" pitchFamily="34" charset="-122"/>
                          <a:ea typeface="微软雅黑" panose="020B0503020204020204" pitchFamily="34" charset="-122"/>
                        </a:rPr>
                        <a:t>102301631-</a:t>
                      </a:r>
                      <a:r>
                        <a:rPr lang="zh-CN" altLang="en-US" sz="1200">
                          <a:effectLst/>
                          <a:latin typeface="微软雅黑" panose="020B0503020204020204" pitchFamily="34" charset="-122"/>
                          <a:ea typeface="微软雅黑" panose="020B0503020204020204" pitchFamily="34" charset="-122"/>
                        </a:rPr>
                        <a:t>贾子康</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后端（模块</a:t>
                      </a:r>
                      <a:r>
                        <a:rPr lang="en-US" altLang="zh-CN" sz="1200" dirty="0">
                          <a:effectLst/>
                          <a:latin typeface="微软雅黑" panose="020B0503020204020204" pitchFamily="34" charset="-122"/>
                          <a:ea typeface="微软雅黑" panose="020B0503020204020204" pitchFamily="34" charset="-122"/>
                        </a:rPr>
                        <a:t>5</a:t>
                      </a:r>
                      <a:r>
                        <a:rPr lang="zh-CN" altLang="en-US" sz="1200" dirty="0">
                          <a:effectLst/>
                          <a:latin typeface="微软雅黑" panose="020B0503020204020204" pitchFamily="34" charset="-122"/>
                          <a:ea typeface="微软雅黑" panose="020B0503020204020204" pitchFamily="34" charset="-122"/>
                        </a:rPr>
                        <a:t>）</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75105551"/>
                  </a:ext>
                </a:extLst>
              </a:tr>
              <a:tr h="271859">
                <a:tc>
                  <a:txBody>
                    <a:bodyPr/>
                    <a:lstStyle/>
                    <a:p>
                      <a:pPr algn="ctr" fontAlgn="base">
                        <a:buNone/>
                      </a:pPr>
                      <a:r>
                        <a:rPr lang="en-US" altLang="zh-CN" sz="1200">
                          <a:effectLst/>
                          <a:latin typeface="微软雅黑" panose="020B0503020204020204" pitchFamily="34" charset="-122"/>
                          <a:ea typeface="微软雅黑" panose="020B0503020204020204" pitchFamily="34" charset="-122"/>
                        </a:rPr>
                        <a:t>102300213-</a:t>
                      </a:r>
                      <a:r>
                        <a:rPr lang="zh-CN" altLang="en-US" sz="1200">
                          <a:effectLst/>
                          <a:latin typeface="微软雅黑" panose="020B0503020204020204" pitchFamily="34" charset="-122"/>
                          <a:ea typeface="微软雅黑" panose="020B0503020204020204" pitchFamily="34" charset="-122"/>
                        </a:rPr>
                        <a:t>陈宇</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tc>
                  <a:txBody>
                    <a:bodyPr/>
                    <a:lstStyle/>
                    <a:p>
                      <a:pPr algn="ctr" fontAlgn="base">
                        <a:buNone/>
                      </a:pPr>
                      <a:r>
                        <a:rPr lang="zh-CN" altLang="en-US" sz="1200" dirty="0">
                          <a:effectLst/>
                          <a:latin typeface="微软雅黑" panose="020B0503020204020204" pitchFamily="34" charset="-122"/>
                          <a:ea typeface="微软雅黑" panose="020B0503020204020204" pitchFamily="34" charset="-122"/>
                        </a:rPr>
                        <a:t>后端（数据库）</a:t>
                      </a:r>
                    </a:p>
                  </a:txBody>
                  <a:tcPr marL="73193" marR="73193" marT="41825" marB="41825" anchor="ctr">
                    <a:lnL w="7620" cap="flat" cmpd="sng" algn="ctr">
                      <a:solidFill>
                        <a:srgbClr val="373C69"/>
                      </a:solidFill>
                      <a:prstDash val="solid"/>
                      <a:round/>
                      <a:headEnd type="none" w="med" len="med"/>
                      <a:tailEnd type="none" w="med" len="med"/>
                    </a:lnL>
                    <a:lnR w="7620" cap="flat" cmpd="sng" algn="ctr">
                      <a:solidFill>
                        <a:srgbClr val="373C69"/>
                      </a:solidFill>
                      <a:prstDash val="solid"/>
                      <a:round/>
                      <a:headEnd type="none" w="med" len="med"/>
                      <a:tailEnd type="none" w="med" len="med"/>
                    </a:lnR>
                    <a:lnT w="7620" cap="flat" cmpd="sng" algn="ctr">
                      <a:solidFill>
                        <a:srgbClr val="373C69"/>
                      </a:solidFill>
                      <a:prstDash val="solid"/>
                      <a:round/>
                      <a:headEnd type="none" w="med" len="med"/>
                      <a:tailEnd type="none" w="med" len="med"/>
                    </a:lnT>
                    <a:lnB w="7620" cap="flat" cmpd="sng" algn="ctr">
                      <a:solidFill>
                        <a:srgbClr val="373C69"/>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511113711"/>
                  </a:ext>
                </a:extLst>
              </a:tr>
            </a:tbl>
          </a:graphicData>
        </a:graphic>
      </p:graphicFrame>
      <p:pic>
        <p:nvPicPr>
          <p:cNvPr id="9" name="图片 8">
            <a:extLst>
              <a:ext uri="{FF2B5EF4-FFF2-40B4-BE49-F238E27FC236}">
                <a16:creationId xmlns:a16="http://schemas.microsoft.com/office/drawing/2014/main" id="{47BEF839-C994-0350-6FCF-C5B44767D067}"/>
              </a:ext>
            </a:extLst>
          </p:cNvPr>
          <p:cNvPicPr>
            <a:picLocks noChangeAspect="1"/>
          </p:cNvPicPr>
          <p:nvPr/>
        </p:nvPicPr>
        <p:blipFill>
          <a:blip r:embed="rId4"/>
          <a:stretch>
            <a:fillRect/>
          </a:stretch>
        </p:blipFill>
        <p:spPr>
          <a:xfrm>
            <a:off x="4550230" y="2658105"/>
            <a:ext cx="4571998" cy="21175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34EF7-7CED-CC61-5BFB-CC1DDAB380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BF4C5B1-3090-B1A4-68F4-F1B19562BA0D}"/>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A8A2B782-5A11-84A5-7F36-2C6FFBA95088}"/>
              </a:ext>
            </a:extLst>
          </p:cNvPr>
          <p:cNvPicPr>
            <a:picLocks noChangeAspect="1"/>
          </p:cNvPicPr>
          <p:nvPr/>
        </p:nvPicPr>
        <p:blipFill>
          <a:blip r:embed="rId3"/>
          <a:srcRect/>
          <a:stretch/>
        </p:blipFill>
        <p:spPr>
          <a:xfrm>
            <a:off x="0" y="0"/>
            <a:ext cx="9144000" cy="5143500"/>
          </a:xfrm>
          <a:prstGeom prst="rect">
            <a:avLst/>
          </a:prstGeom>
        </p:spPr>
      </p:pic>
      <p:sp>
        <p:nvSpPr>
          <p:cNvPr id="5" name="Text 2">
            <a:extLst>
              <a:ext uri="{FF2B5EF4-FFF2-40B4-BE49-F238E27FC236}">
                <a16:creationId xmlns:a16="http://schemas.microsoft.com/office/drawing/2014/main" id="{624A4087-8D54-1CDA-5B94-61398226E46D}"/>
              </a:ext>
            </a:extLst>
          </p:cNvPr>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4F928C59-3477-6E3E-DB54-BD83F10CBCBA}"/>
              </a:ext>
            </a:extLst>
          </p:cNvPr>
          <p:cNvSpPr txBox="1"/>
          <p:nvPr/>
        </p:nvSpPr>
        <p:spPr>
          <a:xfrm>
            <a:off x="402772" y="1333635"/>
            <a:ext cx="5884506"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核心目标：</a:t>
            </a:r>
            <a:r>
              <a:rPr lang="en-US" altLang="zh-CN" sz="1400" dirty="0">
                <a:latin typeface="微软雅黑" panose="020B0503020204020204" pitchFamily="34" charset="-122"/>
                <a:ea typeface="微软雅黑" panose="020B0503020204020204" pitchFamily="34" charset="-122"/>
              </a:rPr>
              <a:t>14 </a:t>
            </a:r>
            <a:r>
              <a:rPr lang="zh-CN" altLang="en-US" sz="1400" dirty="0">
                <a:latin typeface="微软雅黑" panose="020B0503020204020204" pitchFamily="34" charset="-122"/>
                <a:ea typeface="微软雅黑" panose="020B0503020204020204" pitchFamily="34" charset="-122"/>
              </a:rPr>
              <a:t>个工作日内完成「前后端一体化可运行 </a:t>
            </a:r>
            <a:r>
              <a:rPr lang="en-US" altLang="zh-CN" sz="1400" dirty="0">
                <a:latin typeface="微软雅黑" panose="020B0503020204020204" pitchFamily="34" charset="-122"/>
                <a:ea typeface="微软雅黑" panose="020B0503020204020204" pitchFamily="34" charset="-122"/>
              </a:rPr>
              <a:t>Alpha </a:t>
            </a:r>
            <a:r>
              <a:rPr lang="zh-CN" altLang="en-US" sz="1400" dirty="0">
                <a:latin typeface="微软雅黑" panose="020B0503020204020204" pitchFamily="34" charset="-122"/>
                <a:ea typeface="微软雅黑" panose="020B0503020204020204" pitchFamily="34" charset="-122"/>
              </a:rPr>
              <a:t>版本」</a:t>
            </a:r>
          </a:p>
        </p:txBody>
      </p:sp>
      <p:sp>
        <p:nvSpPr>
          <p:cNvPr id="16" name="文本框 15">
            <a:extLst>
              <a:ext uri="{FF2B5EF4-FFF2-40B4-BE49-F238E27FC236}">
                <a16:creationId xmlns:a16="http://schemas.microsoft.com/office/drawing/2014/main" id="{93EFA317-29CD-337B-6CAF-5AA2F0CF248E}"/>
              </a:ext>
            </a:extLst>
          </p:cNvPr>
          <p:cNvSpPr txBox="1"/>
          <p:nvPr/>
        </p:nvSpPr>
        <p:spPr>
          <a:xfrm>
            <a:off x="402772" y="2032673"/>
            <a:ext cx="4125685" cy="2316403"/>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阶段划分与关键任务：</a:t>
            </a: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1-2 </a:t>
            </a:r>
            <a:r>
              <a:rPr lang="zh-CN" altLang="en-US" sz="1400" dirty="0">
                <a:latin typeface="微软雅黑" panose="020B0503020204020204" pitchFamily="34" charset="-122"/>
                <a:ea typeface="微软雅黑" panose="020B0503020204020204" pitchFamily="34" charset="-122"/>
              </a:rPr>
              <a:t>天：需求对齐与基础准备（前期铺垫）</a:t>
            </a: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3-6 </a:t>
            </a:r>
            <a:r>
              <a:rPr lang="zh-CN" altLang="en-US" sz="1400" dirty="0">
                <a:latin typeface="微软雅黑" panose="020B0503020204020204" pitchFamily="34" charset="-122"/>
                <a:ea typeface="微软雅黑" panose="020B0503020204020204" pitchFamily="34" charset="-122"/>
              </a:rPr>
              <a:t>天：功能开发攻坚（核心开发）</a:t>
            </a: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7-9 </a:t>
            </a:r>
            <a:r>
              <a:rPr lang="zh-CN" altLang="en-US" sz="1400" dirty="0">
                <a:latin typeface="微软雅黑" panose="020B0503020204020204" pitchFamily="34" charset="-122"/>
                <a:ea typeface="微软雅黑" panose="020B0503020204020204" pitchFamily="34" charset="-122"/>
              </a:rPr>
              <a:t>天：接口联调与功能闭环（关键联调）</a:t>
            </a: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10-11 </a:t>
            </a:r>
            <a:r>
              <a:rPr lang="zh-CN" altLang="en-US" sz="1400" dirty="0">
                <a:latin typeface="微软雅黑" panose="020B0503020204020204" pitchFamily="34" charset="-122"/>
                <a:ea typeface="微软雅黑" panose="020B0503020204020204" pitchFamily="34" charset="-122"/>
              </a:rPr>
              <a:t>天：一体化打包与环境适配（打包攻坚）</a:t>
            </a: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12-13 </a:t>
            </a:r>
            <a:r>
              <a:rPr lang="zh-CN" altLang="en-US" sz="1400" dirty="0">
                <a:latin typeface="微软雅黑" panose="020B0503020204020204" pitchFamily="34" charset="-122"/>
                <a:ea typeface="微软雅黑" panose="020B0503020204020204" pitchFamily="34" charset="-122"/>
              </a:rPr>
              <a:t>天：</a:t>
            </a:r>
            <a:r>
              <a:rPr lang="en-US" altLang="zh-CN" sz="1400" dirty="0">
                <a:latin typeface="微软雅黑" panose="020B0503020204020204" pitchFamily="34" charset="-122"/>
                <a:ea typeface="微软雅黑" panose="020B0503020204020204" pitchFamily="34" charset="-122"/>
              </a:rPr>
              <a:t>Bug </a:t>
            </a:r>
            <a:r>
              <a:rPr lang="zh-CN" altLang="en-US" sz="1400" dirty="0">
                <a:latin typeface="微软雅黑" panose="020B0503020204020204" pitchFamily="34" charset="-122"/>
                <a:ea typeface="微软雅黑" panose="020B0503020204020204" pitchFamily="34" charset="-122"/>
              </a:rPr>
              <a:t>修复与体验优化（打磨优化）</a:t>
            </a:r>
          </a:p>
          <a:p>
            <a:pPr>
              <a:lnSpc>
                <a:spcPct val="150000"/>
              </a:lnSpc>
            </a:pP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14 </a:t>
            </a:r>
            <a:r>
              <a:rPr lang="zh-CN" altLang="en-US" sz="1400" dirty="0">
                <a:latin typeface="微软雅黑" panose="020B0503020204020204" pitchFamily="34" charset="-122"/>
                <a:ea typeface="微软雅黑" panose="020B0503020204020204" pitchFamily="34" charset="-122"/>
              </a:rPr>
              <a:t>天：</a:t>
            </a:r>
            <a:r>
              <a:rPr lang="en-US" altLang="zh-CN" sz="1400" dirty="0">
                <a:latin typeface="微软雅黑" panose="020B0503020204020204" pitchFamily="34" charset="-122"/>
                <a:ea typeface="微软雅黑" panose="020B0503020204020204" pitchFamily="34" charset="-122"/>
              </a:rPr>
              <a:t>Alpha </a:t>
            </a:r>
            <a:r>
              <a:rPr lang="zh-CN" altLang="en-US" sz="1400" dirty="0">
                <a:latin typeface="微软雅黑" panose="020B0503020204020204" pitchFamily="34" charset="-122"/>
                <a:ea typeface="微软雅黑" panose="020B0503020204020204" pitchFamily="34" charset="-122"/>
              </a:rPr>
              <a:t>版本验收与交付（收尾交付）</a:t>
            </a:r>
            <a:endParaRPr lang="en-US" altLang="zh-CN" sz="1400" dirty="0">
              <a:latin typeface="微软雅黑" panose="020B0503020204020204" pitchFamily="34" charset="-122"/>
              <a:ea typeface="微软雅黑" panose="020B0503020204020204" pitchFamily="34" charset="-122"/>
            </a:endParaRPr>
          </a:p>
        </p:txBody>
      </p:sp>
      <p:pic>
        <p:nvPicPr>
          <p:cNvPr id="18" name="Image 1" descr="preencoded.png">
            <a:extLst>
              <a:ext uri="{FF2B5EF4-FFF2-40B4-BE49-F238E27FC236}">
                <a16:creationId xmlns:a16="http://schemas.microsoft.com/office/drawing/2014/main" id="{1B2722CA-4D89-31D3-6CB6-1914B6AF84C6}"/>
              </a:ext>
            </a:extLst>
          </p:cNvPr>
          <p:cNvPicPr>
            <a:picLocks noChangeAspect="1"/>
          </p:cNvPicPr>
          <p:nvPr/>
        </p:nvPicPr>
        <p:blipFill>
          <a:blip r:embed="rId4"/>
          <a:srcRect t="16146" b="16146"/>
          <a:stretch/>
        </p:blipFill>
        <p:spPr>
          <a:xfrm>
            <a:off x="0" y="0"/>
            <a:ext cx="9144000" cy="1238250"/>
          </a:xfrm>
          <a:prstGeom prst="rect">
            <a:avLst/>
          </a:prstGeom>
        </p:spPr>
      </p:pic>
      <p:sp>
        <p:nvSpPr>
          <p:cNvPr id="20" name="文本框 19">
            <a:extLst>
              <a:ext uri="{FF2B5EF4-FFF2-40B4-BE49-F238E27FC236}">
                <a16:creationId xmlns:a16="http://schemas.microsoft.com/office/drawing/2014/main" id="{EB5AB5A8-CFF5-F8FB-3A4F-7C83B95F8D22}"/>
              </a:ext>
            </a:extLst>
          </p:cNvPr>
          <p:cNvSpPr txBox="1"/>
          <p:nvPr/>
        </p:nvSpPr>
        <p:spPr>
          <a:xfrm>
            <a:off x="402772" y="467345"/>
            <a:ext cx="2114938"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预期计划</a:t>
            </a:r>
          </a:p>
        </p:txBody>
      </p:sp>
    </p:spTree>
    <p:extLst>
      <p:ext uri="{BB962C8B-B14F-4D97-AF65-F5344CB8AC3E}">
        <p14:creationId xmlns:p14="http://schemas.microsoft.com/office/powerpoint/2010/main" val="1707318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447675"/>
            <a:ext cx="8001000" cy="400050"/>
          </a:xfrm>
          <a:prstGeom prst="rect">
            <a:avLst/>
          </a:prstGeom>
          <a:noFill/>
          <a:ln/>
        </p:spPr>
        <p:txBody>
          <a:bodyPr vert="horz" wrap="square" lIns="0" tIns="0" rIns="0" bIns="0" rtlCol="0" anchor="ctr"/>
          <a:lstStyle/>
          <a:p>
            <a:pPr>
              <a:lnSpc>
                <a:spcPts val="3150"/>
              </a:lnSpc>
            </a:pPr>
            <a:r>
              <a:rPr lang="zh-CN" altLang="en-US" sz="2000" b="1" dirty="0">
                <a:latin typeface="微软雅黑" panose="020B0503020204020204" pitchFamily="34" charset="-122"/>
                <a:ea typeface="微软雅黑" panose="020B0503020204020204" pitchFamily="34" charset="-122"/>
              </a:rPr>
              <a:t>预期计划</a:t>
            </a:r>
            <a:endParaRPr lang="en-US" sz="2400" b="1" dirty="0">
              <a:latin typeface="微软雅黑" panose="020B0503020204020204" pitchFamily="34" charset="-122"/>
              <a:ea typeface="微软雅黑" panose="020B0503020204020204" pitchFamily="34" charset="-122"/>
            </a:endParaRPr>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a:extLst>
              <a:ext uri="{FF2B5EF4-FFF2-40B4-BE49-F238E27FC236}">
                <a16:creationId xmlns:a16="http://schemas.microsoft.com/office/drawing/2014/main" id="{3D46C96E-8AD8-2AA1-72F6-E2C2B190190A}"/>
              </a:ext>
            </a:extLst>
          </p:cNvPr>
          <p:cNvPicPr>
            <a:picLocks noChangeAspect="1"/>
          </p:cNvPicPr>
          <p:nvPr/>
        </p:nvPicPr>
        <p:blipFill>
          <a:blip r:embed="rId4"/>
          <a:stretch>
            <a:fillRect/>
          </a:stretch>
        </p:blipFill>
        <p:spPr>
          <a:xfrm>
            <a:off x="365143" y="1282124"/>
            <a:ext cx="8413714" cy="28855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研发进展</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9F5FF"/>
                </a:solidFill>
                <a:latin typeface="Microsoft YaHei" pitchFamily="34" charset="0"/>
                <a:ea typeface="Microsoft YaHei" pitchFamily="34" charset="-122"/>
                <a:cs typeface="Microsoft YaHei" pitchFamily="34" charset="-120"/>
              </a:rPr>
              <a:t>02</a:t>
            </a:r>
            <a:endParaRPr lang="en-US" sz="2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pic>
        <p:nvPicPr>
          <p:cNvPr id="4" name="Image 1" descr="preencoded.png"/>
          <p:cNvPicPr>
            <a:picLocks noChangeAspect="1"/>
          </p:cNvPicPr>
          <p:nvPr/>
        </p:nvPicPr>
        <p:blipFill>
          <a:blip r:embed="rId4"/>
          <a:srcRect t="5208" b="5208"/>
          <a:stretch/>
        </p:blipFill>
        <p:spPr>
          <a:xfrm>
            <a:off x="0" y="0"/>
            <a:ext cx="9144000" cy="1638300"/>
          </a:xfrm>
          <a:prstGeom prst="rect">
            <a:avLst/>
          </a:prstGeom>
        </p:spPr>
      </p:pic>
      <p:sp>
        <p:nvSpPr>
          <p:cNvPr id="5"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FFFFFF"/>
                </a:solidFill>
                <a:latin typeface="Microsoft YaHei" pitchFamily="34" charset="0"/>
                <a:ea typeface="Microsoft YaHei" pitchFamily="34" charset="-122"/>
                <a:cs typeface="Microsoft YaHei" pitchFamily="34" charset="-120"/>
              </a:rPr>
              <a:t>实际进度曲线</a:t>
            </a:r>
            <a:r>
              <a:rPr lang="zh-CN" altLang="en-US" sz="2250" b="1" dirty="0">
                <a:solidFill>
                  <a:srgbClr val="FFFFFF"/>
                </a:solidFill>
                <a:latin typeface="Microsoft YaHei" pitchFamily="34" charset="0"/>
                <a:ea typeface="Microsoft YaHei" pitchFamily="34" charset="-122"/>
                <a:cs typeface="Microsoft YaHei" pitchFamily="34" charset="-120"/>
              </a:rPr>
              <a:t>与燃尽图</a:t>
            </a:r>
            <a:endParaRPr lang="en-US" sz="2250" dirty="0"/>
          </a:p>
        </p:txBody>
      </p:sp>
      <p:sp>
        <p:nvSpPr>
          <p:cNvPr id="6"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20" name="图片 19">
            <a:extLst>
              <a:ext uri="{FF2B5EF4-FFF2-40B4-BE49-F238E27FC236}">
                <a16:creationId xmlns:a16="http://schemas.microsoft.com/office/drawing/2014/main" id="{96B26790-6CF7-6704-20EC-19CE57CD72E7}"/>
              </a:ext>
            </a:extLst>
          </p:cNvPr>
          <p:cNvPicPr>
            <a:picLocks noChangeAspect="1"/>
          </p:cNvPicPr>
          <p:nvPr/>
        </p:nvPicPr>
        <p:blipFill>
          <a:blip r:embed="rId5"/>
          <a:stretch>
            <a:fillRect/>
          </a:stretch>
        </p:blipFill>
        <p:spPr>
          <a:xfrm>
            <a:off x="914465" y="1841454"/>
            <a:ext cx="7315069" cy="30988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67391-DB7E-5992-8E47-39D7298868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DF6BD9-CFE5-ACBE-F518-168FAE772DC3}"/>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79144032-0832-90FD-CC2F-8136EC964C77}"/>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9937A578-C708-5AD0-4E25-019BA357D190}"/>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B3B7957B-547F-7A82-6BEE-E4895D7860C7}"/>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前端基础页面</a:t>
            </a:r>
            <a:endParaRPr lang="en-US" sz="2250" dirty="0"/>
          </a:p>
        </p:txBody>
      </p:sp>
      <p:sp>
        <p:nvSpPr>
          <p:cNvPr id="6" name="Text 2">
            <a:extLst>
              <a:ext uri="{FF2B5EF4-FFF2-40B4-BE49-F238E27FC236}">
                <a16:creationId xmlns:a16="http://schemas.microsoft.com/office/drawing/2014/main" id="{5D3C4C0E-8EB1-B9B3-E147-C626A092FFB6}"/>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8" name="图片 7">
            <a:extLst>
              <a:ext uri="{FF2B5EF4-FFF2-40B4-BE49-F238E27FC236}">
                <a16:creationId xmlns:a16="http://schemas.microsoft.com/office/drawing/2014/main" id="{55FBAFD0-66B3-EBA2-A5B9-0776F2B5C407}"/>
              </a:ext>
            </a:extLst>
          </p:cNvPr>
          <p:cNvPicPr>
            <a:picLocks noChangeAspect="1"/>
          </p:cNvPicPr>
          <p:nvPr/>
        </p:nvPicPr>
        <p:blipFill>
          <a:blip r:embed="rId5"/>
          <a:stretch>
            <a:fillRect/>
          </a:stretch>
        </p:blipFill>
        <p:spPr>
          <a:xfrm>
            <a:off x="851417" y="1371600"/>
            <a:ext cx="3957378" cy="2362060"/>
          </a:xfrm>
          <a:prstGeom prst="rect">
            <a:avLst/>
          </a:prstGeom>
        </p:spPr>
      </p:pic>
      <p:pic>
        <p:nvPicPr>
          <p:cNvPr id="11" name="图片 10">
            <a:extLst>
              <a:ext uri="{FF2B5EF4-FFF2-40B4-BE49-F238E27FC236}">
                <a16:creationId xmlns:a16="http://schemas.microsoft.com/office/drawing/2014/main" id="{51D3B5DE-7DC5-6C91-C35B-5AC9656E5CBA}"/>
              </a:ext>
            </a:extLst>
          </p:cNvPr>
          <p:cNvPicPr>
            <a:picLocks noChangeAspect="1"/>
          </p:cNvPicPr>
          <p:nvPr/>
        </p:nvPicPr>
        <p:blipFill>
          <a:blip r:embed="rId6"/>
          <a:stretch>
            <a:fillRect/>
          </a:stretch>
        </p:blipFill>
        <p:spPr>
          <a:xfrm>
            <a:off x="4180112" y="1851562"/>
            <a:ext cx="4627986" cy="3122054"/>
          </a:xfrm>
          <a:prstGeom prst="rect">
            <a:avLst/>
          </a:prstGeom>
        </p:spPr>
      </p:pic>
      <p:sp>
        <p:nvSpPr>
          <p:cNvPr id="12" name="文本框 11">
            <a:extLst>
              <a:ext uri="{FF2B5EF4-FFF2-40B4-BE49-F238E27FC236}">
                <a16:creationId xmlns:a16="http://schemas.microsoft.com/office/drawing/2014/main" id="{229D9ABC-4B37-9FB5-9610-734BE04C84CF}"/>
              </a:ext>
            </a:extLst>
          </p:cNvPr>
          <p:cNvSpPr txBox="1"/>
          <p:nvPr/>
        </p:nvSpPr>
        <p:spPr>
          <a:xfrm>
            <a:off x="741099" y="3765755"/>
            <a:ext cx="1710612" cy="338554"/>
          </a:xfrm>
          <a:prstGeom prst="rect">
            <a:avLst/>
          </a:prstGeom>
          <a:noFill/>
        </p:spPr>
        <p:txBody>
          <a:bodyPr wrap="square" rtlCol="0">
            <a:spAutoFit/>
          </a:bodyPr>
          <a:lstStyle/>
          <a:p>
            <a:r>
              <a:rPr lang="zh-CN" altLang="en-US" sz="1600" dirty="0"/>
              <a:t>第一版</a:t>
            </a:r>
          </a:p>
        </p:txBody>
      </p:sp>
      <p:sp>
        <p:nvSpPr>
          <p:cNvPr id="13" name="文本框 12">
            <a:extLst>
              <a:ext uri="{FF2B5EF4-FFF2-40B4-BE49-F238E27FC236}">
                <a16:creationId xmlns:a16="http://schemas.microsoft.com/office/drawing/2014/main" id="{C68506CB-610C-3C19-9C92-5F400A52E03C}"/>
              </a:ext>
            </a:extLst>
          </p:cNvPr>
          <p:cNvSpPr txBox="1"/>
          <p:nvPr/>
        </p:nvSpPr>
        <p:spPr>
          <a:xfrm>
            <a:off x="6861888" y="1526173"/>
            <a:ext cx="1710612" cy="338554"/>
          </a:xfrm>
          <a:prstGeom prst="rect">
            <a:avLst/>
          </a:prstGeom>
          <a:noFill/>
        </p:spPr>
        <p:txBody>
          <a:bodyPr wrap="square" rtlCol="0">
            <a:spAutoFit/>
          </a:bodyPr>
          <a:lstStyle/>
          <a:p>
            <a:r>
              <a:rPr lang="zh-CN" altLang="en-US" sz="1600" dirty="0"/>
              <a:t>第二版</a:t>
            </a:r>
          </a:p>
        </p:txBody>
      </p:sp>
    </p:spTree>
    <p:extLst>
      <p:ext uri="{BB962C8B-B14F-4D97-AF65-F5344CB8AC3E}">
        <p14:creationId xmlns:p14="http://schemas.microsoft.com/office/powerpoint/2010/main" val="2887429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46234-A9E7-F45D-0444-D65817599B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3CFCE0-B5B1-B694-1E16-DD26BAA8CEEF}"/>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4C40B0E2-73F8-6FAA-492C-48FBDB5250BE}"/>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7223B301-CD2D-94E0-267C-59ED8002E97A}"/>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C51D4146-90E4-8091-E3DB-51AC1D2A3DEC}"/>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后端</a:t>
            </a:r>
            <a:r>
              <a:rPr lang="en-US" altLang="zh-CN" sz="2250" b="1" dirty="0" err="1">
                <a:solidFill>
                  <a:srgbClr val="FFFFFF"/>
                </a:solidFill>
                <a:latin typeface="Microsoft YaHei" pitchFamily="34" charset="0"/>
                <a:ea typeface="Microsoft YaHei" pitchFamily="34" charset="-122"/>
                <a:cs typeface="Microsoft YaHei" pitchFamily="34" charset="-120"/>
              </a:rPr>
              <a:t>springboot</a:t>
            </a:r>
            <a:r>
              <a:rPr lang="zh-CN" altLang="en-US" sz="2250" b="1" dirty="0">
                <a:solidFill>
                  <a:srgbClr val="FFFFFF"/>
                </a:solidFill>
                <a:latin typeface="Microsoft YaHei" pitchFamily="34" charset="0"/>
                <a:ea typeface="Microsoft YaHei" pitchFamily="34" charset="-122"/>
                <a:cs typeface="Microsoft YaHei" pitchFamily="34" charset="-120"/>
              </a:rPr>
              <a:t>框架搭建与核心功能</a:t>
            </a:r>
            <a:endParaRPr lang="en-US" sz="2250" dirty="0"/>
          </a:p>
        </p:txBody>
      </p:sp>
      <p:sp>
        <p:nvSpPr>
          <p:cNvPr id="6" name="Text 2">
            <a:extLst>
              <a:ext uri="{FF2B5EF4-FFF2-40B4-BE49-F238E27FC236}">
                <a16:creationId xmlns:a16="http://schemas.microsoft.com/office/drawing/2014/main" id="{100BC4DE-44F6-C6BD-EAA2-0A9082B4CD0A}"/>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9" name="图片 8">
            <a:extLst>
              <a:ext uri="{FF2B5EF4-FFF2-40B4-BE49-F238E27FC236}">
                <a16:creationId xmlns:a16="http://schemas.microsoft.com/office/drawing/2014/main" id="{A3770161-144C-4F89-CEAE-845FCEF7BB42}"/>
              </a:ext>
            </a:extLst>
          </p:cNvPr>
          <p:cNvPicPr>
            <a:picLocks noChangeAspect="1"/>
          </p:cNvPicPr>
          <p:nvPr/>
        </p:nvPicPr>
        <p:blipFill>
          <a:blip r:embed="rId5"/>
          <a:stretch>
            <a:fillRect/>
          </a:stretch>
        </p:blipFill>
        <p:spPr>
          <a:xfrm>
            <a:off x="640689" y="1247775"/>
            <a:ext cx="4634217" cy="3495081"/>
          </a:xfrm>
          <a:prstGeom prst="rect">
            <a:avLst/>
          </a:prstGeom>
        </p:spPr>
      </p:pic>
      <p:pic>
        <p:nvPicPr>
          <p:cNvPr id="12" name="图片 11">
            <a:extLst>
              <a:ext uri="{FF2B5EF4-FFF2-40B4-BE49-F238E27FC236}">
                <a16:creationId xmlns:a16="http://schemas.microsoft.com/office/drawing/2014/main" id="{0D612371-D9E4-6881-70BD-C53A26363899}"/>
              </a:ext>
            </a:extLst>
          </p:cNvPr>
          <p:cNvPicPr>
            <a:picLocks noChangeAspect="1"/>
          </p:cNvPicPr>
          <p:nvPr/>
        </p:nvPicPr>
        <p:blipFill>
          <a:blip r:embed="rId6"/>
          <a:stretch>
            <a:fillRect/>
          </a:stretch>
        </p:blipFill>
        <p:spPr>
          <a:xfrm>
            <a:off x="5344095" y="2861128"/>
            <a:ext cx="3538648" cy="1881728"/>
          </a:xfrm>
          <a:prstGeom prst="rect">
            <a:avLst/>
          </a:prstGeom>
        </p:spPr>
      </p:pic>
    </p:spTree>
    <p:extLst>
      <p:ext uri="{BB962C8B-B14F-4D97-AF65-F5344CB8AC3E}">
        <p14:creationId xmlns:p14="http://schemas.microsoft.com/office/powerpoint/2010/main" val="1157358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79CF6-0235-B225-45EF-7A1911B450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229A14-3860-4BAF-1CD8-CC6178B3F5D9}"/>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8FA9FB2C-A534-4539-0CE4-CDA964526E6A}"/>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F2185A2D-66A5-0B37-989A-A757FB623F7C}"/>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C3BF84E3-8636-6FCF-E083-D7361E6B45B6}"/>
              </a:ext>
            </a:extLst>
          </p:cNvPr>
          <p:cNvSpPr/>
          <p:nvPr/>
        </p:nvSpPr>
        <p:spPr>
          <a:xfrm>
            <a:off x="571500" y="38100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遇到的问题？</a:t>
            </a:r>
            <a:endParaRPr lang="en-US" sz="2250" dirty="0"/>
          </a:p>
        </p:txBody>
      </p:sp>
      <p:sp>
        <p:nvSpPr>
          <p:cNvPr id="6" name="Text 2">
            <a:extLst>
              <a:ext uri="{FF2B5EF4-FFF2-40B4-BE49-F238E27FC236}">
                <a16:creationId xmlns:a16="http://schemas.microsoft.com/office/drawing/2014/main" id="{122792BA-6AAC-045E-E20C-931C990C7433}"/>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9" name="文本框 18">
            <a:extLst>
              <a:ext uri="{FF2B5EF4-FFF2-40B4-BE49-F238E27FC236}">
                <a16:creationId xmlns:a16="http://schemas.microsoft.com/office/drawing/2014/main" id="{56D53AE3-CC69-C5BC-8258-5D2CE627E957}"/>
              </a:ext>
            </a:extLst>
          </p:cNvPr>
          <p:cNvSpPr txBox="1"/>
          <p:nvPr/>
        </p:nvSpPr>
        <p:spPr>
          <a:xfrm>
            <a:off x="416766" y="1994419"/>
            <a:ext cx="6568751" cy="1156855"/>
          </a:xfrm>
          <a:prstGeom prst="rect">
            <a:avLst/>
          </a:prstGeom>
          <a:noFill/>
        </p:spPr>
        <p:txBody>
          <a:bodyPr wrap="square" rtlCol="0">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原计划采用</a:t>
            </a:r>
            <a:r>
              <a:rPr lang="en-US" altLang="zh-CN" sz="1600" dirty="0">
                <a:latin typeface="微软雅黑" panose="020B0503020204020204" pitchFamily="34" charset="-122"/>
                <a:ea typeface="微软雅黑" panose="020B0503020204020204" pitchFamily="34" charset="-122"/>
              </a:rPr>
              <a:t>SQLite</a:t>
            </a:r>
            <a:r>
              <a:rPr lang="zh-CN" altLang="en-US" sz="1600" dirty="0">
                <a:latin typeface="微软雅黑" panose="020B0503020204020204" pitchFamily="34" charset="-122"/>
                <a:ea typeface="微软雅黑" panose="020B0503020204020204" pitchFamily="34" charset="-122"/>
              </a:rPr>
              <a:t>轻量级数据库来减小体积，但是在实际开发过程中不如</a:t>
            </a:r>
            <a:r>
              <a:rPr lang="en-US" altLang="zh-CN" sz="1600" dirty="0">
                <a:latin typeface="微软雅黑" panose="020B0503020204020204" pitchFamily="34" charset="-122"/>
                <a:ea typeface="微软雅黑" panose="020B0503020204020204" pitchFamily="34" charset="-122"/>
              </a:rPr>
              <a:t>MySQL</a:t>
            </a:r>
            <a:r>
              <a:rPr lang="zh-CN" altLang="en-US" sz="1600" dirty="0">
                <a:latin typeface="微软雅黑" panose="020B0503020204020204" pitchFamily="34" charset="-122"/>
                <a:ea typeface="微软雅黑" panose="020B0503020204020204" pitchFamily="34" charset="-122"/>
              </a:rPr>
              <a:t>等数据库来的熟练，且</a:t>
            </a:r>
            <a:r>
              <a:rPr lang="en-US" altLang="zh-CN" sz="1600" dirty="0">
                <a:latin typeface="微软雅黑" panose="020B0503020204020204" pitchFamily="34" charset="-122"/>
                <a:ea typeface="微软雅黑" panose="020B0503020204020204" pitchFamily="34" charset="-122"/>
              </a:rPr>
              <a:t>SQLite</a:t>
            </a:r>
            <a:r>
              <a:rPr lang="zh-CN" altLang="en-US" sz="1600" dirty="0">
                <a:latin typeface="微软雅黑" panose="020B0503020204020204" pitchFamily="34" charset="-122"/>
                <a:ea typeface="微软雅黑" panose="020B0503020204020204" pitchFamily="34" charset="-122"/>
              </a:rPr>
              <a:t>并发写时事务易失败，仅支持简单的触发器，无存储过程、事件调度器。</a:t>
            </a:r>
          </a:p>
        </p:txBody>
      </p:sp>
      <p:sp>
        <p:nvSpPr>
          <p:cNvPr id="20" name="文本框 19">
            <a:extLst>
              <a:ext uri="{FF2B5EF4-FFF2-40B4-BE49-F238E27FC236}">
                <a16:creationId xmlns:a16="http://schemas.microsoft.com/office/drawing/2014/main" id="{542B4334-515B-AC67-C861-1D3505B55168}"/>
              </a:ext>
            </a:extLst>
          </p:cNvPr>
          <p:cNvSpPr txBox="1"/>
          <p:nvPr/>
        </p:nvSpPr>
        <p:spPr>
          <a:xfrm>
            <a:off x="416766" y="3361927"/>
            <a:ext cx="6494107" cy="1156855"/>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于是决定换成</a:t>
            </a:r>
            <a:r>
              <a:rPr lang="en-US" altLang="zh-CN" sz="1600" dirty="0">
                <a:latin typeface="微软雅黑" panose="020B0503020204020204" pitchFamily="34" charset="-122"/>
                <a:ea typeface="微软雅黑" panose="020B0503020204020204" pitchFamily="34" charset="-122"/>
              </a:rPr>
              <a:t>MySQL</a:t>
            </a:r>
            <a:r>
              <a:rPr lang="zh-CN" altLang="en-US" sz="1600" dirty="0">
                <a:latin typeface="微软雅黑" panose="020B0503020204020204" pitchFamily="34" charset="-122"/>
                <a:ea typeface="微软雅黑" panose="020B0503020204020204" pitchFamily="34" charset="-122"/>
              </a:rPr>
              <a:t>：支持存储过程、自定义函数、触发器、事件调度器（</a:t>
            </a:r>
            <a:r>
              <a:rPr lang="en-US" altLang="zh-CN" sz="1600" dirty="0">
                <a:latin typeface="微软雅黑" panose="020B0503020204020204" pitchFamily="34" charset="-122"/>
                <a:ea typeface="微软雅黑" panose="020B0503020204020204" pitchFamily="34" charset="-122"/>
              </a:rPr>
              <a:t>Event</a:t>
            </a:r>
            <a:r>
              <a:rPr lang="zh-CN" altLang="en-US" sz="1600" dirty="0">
                <a:latin typeface="微软雅黑" panose="020B0503020204020204" pitchFamily="34" charset="-122"/>
                <a:ea typeface="微软雅黑" panose="020B0503020204020204" pitchFamily="34" charset="-122"/>
              </a:rPr>
              <a:t>），可将业务逻辑下沉到数据库层。支持多存储引擎（</a:t>
            </a:r>
            <a:r>
              <a:rPr lang="en-US" altLang="zh-CN" sz="1600" dirty="0" err="1">
                <a:latin typeface="微软雅黑" panose="020B0503020204020204" pitchFamily="34" charset="-122"/>
                <a:ea typeface="微软雅黑" panose="020B0503020204020204" pitchFamily="34" charset="-122"/>
              </a:rPr>
              <a:t>InnoDB</a:t>
            </a:r>
            <a:r>
              <a:rPr lang="en-US" altLang="zh-CN" sz="1600" dirty="0">
                <a:latin typeface="微软雅黑" panose="020B0503020204020204" pitchFamily="34" charset="-122"/>
                <a:ea typeface="微软雅黑" panose="020B0503020204020204" pitchFamily="34" charset="-122"/>
              </a:rPr>
              <a:t>/MyISAM/Memory </a:t>
            </a:r>
            <a:r>
              <a:rPr lang="zh-CN" altLang="en-US" sz="1600" dirty="0">
                <a:latin typeface="微软雅黑" panose="020B0503020204020204" pitchFamily="34" charset="-122"/>
                <a:ea typeface="微软雅黑" panose="020B0503020204020204" pitchFamily="34" charset="-122"/>
              </a:rPr>
              <a:t>等）</a:t>
            </a:r>
          </a:p>
        </p:txBody>
      </p:sp>
    </p:spTree>
    <p:extLst>
      <p:ext uri="{BB962C8B-B14F-4D97-AF65-F5344CB8AC3E}">
        <p14:creationId xmlns:p14="http://schemas.microsoft.com/office/powerpoint/2010/main" val="1252382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299D-FF06-4927-620B-2EA569D47F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766255-0340-4360-FCE2-73F6763A6449}"/>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9D5C6F0C-26A3-11BA-CC83-FABF191D75EF}"/>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A1C6F5C6-C25B-EF4D-6D63-2B95423BC14A}"/>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D3D3048C-69A4-D22B-5E14-94C91A4B3103}"/>
              </a:ext>
            </a:extLst>
          </p:cNvPr>
          <p:cNvSpPr/>
          <p:nvPr/>
        </p:nvSpPr>
        <p:spPr>
          <a:xfrm>
            <a:off x="571500" y="38100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遇到的问题？</a:t>
            </a:r>
            <a:endParaRPr lang="en-US" sz="2250" dirty="0"/>
          </a:p>
        </p:txBody>
      </p:sp>
      <p:sp>
        <p:nvSpPr>
          <p:cNvPr id="6" name="Text 2">
            <a:extLst>
              <a:ext uri="{FF2B5EF4-FFF2-40B4-BE49-F238E27FC236}">
                <a16:creationId xmlns:a16="http://schemas.microsoft.com/office/drawing/2014/main" id="{7181710F-B6FB-81B6-1CF9-F973BE6AB82D}"/>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9" name="文本框 18">
            <a:extLst>
              <a:ext uri="{FF2B5EF4-FFF2-40B4-BE49-F238E27FC236}">
                <a16:creationId xmlns:a16="http://schemas.microsoft.com/office/drawing/2014/main" id="{7B261AA7-F96F-AA67-D06C-4462DCE93CB8}"/>
              </a:ext>
            </a:extLst>
          </p:cNvPr>
          <p:cNvSpPr txBox="1"/>
          <p:nvPr/>
        </p:nvSpPr>
        <p:spPr>
          <a:xfrm>
            <a:off x="416766" y="1994419"/>
            <a:ext cx="6568751" cy="1526187"/>
          </a:xfrm>
          <a:prstGeom prst="rect">
            <a:avLst/>
          </a:prstGeom>
          <a:noFill/>
        </p:spPr>
        <p:txBody>
          <a:bodyPr wrap="square" rtlCol="0">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前后端接口规范不一致</a:t>
            </a:r>
          </a:p>
          <a:p>
            <a:pPr>
              <a:lnSpc>
                <a:spcPct val="150000"/>
              </a:lnSpc>
            </a:pPr>
            <a:r>
              <a:rPr lang="zh-CN" altLang="en-US" sz="1600" dirty="0">
                <a:latin typeface="微软雅黑" panose="020B0503020204020204" pitchFamily="34" charset="-122"/>
                <a:ea typeface="微软雅黑" panose="020B0503020204020204" pitchFamily="34" charset="-122"/>
              </a:rPr>
              <a:t>采用前后端分离架构，但是在实际开发过程中前端和后端开发完成的文件难以对接。前端按 </a:t>
            </a:r>
            <a:r>
              <a:rPr lang="en-US" altLang="zh-CN" sz="1600" dirty="0">
                <a:latin typeface="微软雅黑" panose="020B0503020204020204" pitchFamily="34" charset="-122"/>
                <a:ea typeface="微软雅黑" panose="020B0503020204020204" pitchFamily="34" charset="-122"/>
              </a:rPr>
              <a:t>Swagger </a:t>
            </a:r>
            <a:r>
              <a:rPr lang="zh-CN" altLang="en-US" sz="1600" dirty="0">
                <a:latin typeface="微软雅黑" panose="020B0503020204020204" pitchFamily="34" charset="-122"/>
                <a:ea typeface="微软雅黑" panose="020B0503020204020204" pitchFamily="34" charset="-122"/>
              </a:rPr>
              <a:t>文档定义的请求参数格式开发，后端实际返回字段名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数据类型不匹配。</a:t>
            </a:r>
          </a:p>
        </p:txBody>
      </p:sp>
      <p:sp>
        <p:nvSpPr>
          <p:cNvPr id="20" name="文本框 19">
            <a:extLst>
              <a:ext uri="{FF2B5EF4-FFF2-40B4-BE49-F238E27FC236}">
                <a16:creationId xmlns:a16="http://schemas.microsoft.com/office/drawing/2014/main" id="{C600C3A1-B39B-8D5B-ABE1-EE7DEDBA16A5}"/>
              </a:ext>
            </a:extLst>
          </p:cNvPr>
          <p:cNvSpPr txBox="1"/>
          <p:nvPr/>
        </p:nvSpPr>
        <p:spPr>
          <a:xfrm>
            <a:off x="416766" y="3606738"/>
            <a:ext cx="6494107" cy="787523"/>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应对思路：后端重新基于文档编写接口，前端按文档开发，变更需走同步流程</a:t>
            </a:r>
          </a:p>
        </p:txBody>
      </p:sp>
    </p:spTree>
    <p:extLst>
      <p:ext uri="{BB962C8B-B14F-4D97-AF65-F5344CB8AC3E}">
        <p14:creationId xmlns:p14="http://schemas.microsoft.com/office/powerpoint/2010/main" val="514277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FFFFFF"/>
                </a:solidFill>
                <a:latin typeface="Microsoft YaHei" pitchFamily="34" charset="0"/>
                <a:ea typeface="Microsoft YaHei" pitchFamily="34" charset="-122"/>
                <a:cs typeface="Microsoft YaHei" pitchFamily="34" charset="-120"/>
              </a:rPr>
              <a:t>系统架构</a:t>
            </a:r>
            <a:r>
              <a:rPr lang="zh-CN" altLang="en-US" sz="3750" b="1" dirty="0">
                <a:solidFill>
                  <a:srgbClr val="FFFFFF"/>
                </a:solidFill>
                <a:latin typeface="Microsoft YaHei" pitchFamily="34" charset="0"/>
                <a:ea typeface="Microsoft YaHei" pitchFamily="34" charset="-122"/>
                <a:cs typeface="Microsoft YaHei" pitchFamily="34" charset="-120"/>
              </a:rPr>
              <a:t>与测试</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9F5FF"/>
                </a:solidFill>
                <a:latin typeface="Microsoft YaHei" pitchFamily="34" charset="0"/>
                <a:ea typeface="Microsoft YaHei" pitchFamily="34" charset="-122"/>
                <a:cs typeface="Microsoft YaHei" pitchFamily="34" charset="-120"/>
              </a:rPr>
              <a:t>03</a:t>
            </a:r>
            <a:endParaRPr lang="en-US" sz="2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FC93-FB15-724D-D1BE-ABCC14995AC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FC5FDC-7E1C-FD09-87B9-7B011E60ED44}"/>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598CDC0D-4E2A-D2C1-5BB8-F7790186D93B}"/>
              </a:ext>
            </a:extLst>
          </p:cNvPr>
          <p:cNvPicPr>
            <a:picLocks noChangeAspect="1"/>
          </p:cNvPicPr>
          <p:nvPr/>
        </p:nvPicPr>
        <p:blipFill>
          <a:blip r:embed="rId3"/>
          <a:srcRect/>
          <a:stretch/>
        </p:blipFill>
        <p:spPr>
          <a:xfrm>
            <a:off x="0" y="0"/>
            <a:ext cx="9144000" cy="5143500"/>
          </a:xfrm>
          <a:prstGeom prst="rect">
            <a:avLst/>
          </a:prstGeom>
        </p:spPr>
      </p:pic>
      <p:sp>
        <p:nvSpPr>
          <p:cNvPr id="4" name="Text 1">
            <a:extLst>
              <a:ext uri="{FF2B5EF4-FFF2-40B4-BE49-F238E27FC236}">
                <a16:creationId xmlns:a16="http://schemas.microsoft.com/office/drawing/2014/main" id="{71C6EB99-66EE-FEAC-6828-94FD36962CBF}"/>
              </a:ext>
            </a:extLst>
          </p:cNvPr>
          <p:cNvSpPr/>
          <p:nvPr/>
        </p:nvSpPr>
        <p:spPr>
          <a:xfrm>
            <a:off x="571500" y="459920"/>
            <a:ext cx="8001000" cy="4024993"/>
          </a:xfrm>
          <a:prstGeom prst="rect">
            <a:avLst/>
          </a:prstGeom>
          <a:noFill/>
          <a:ln/>
        </p:spPr>
        <p:txBody>
          <a:bodyPr vert="horz" wrap="square" lIns="0" tIns="0" rIns="0" bIns="0" rtlCol="0" anchor="ctr"/>
          <a:lstStyle/>
          <a:p>
            <a:pPr>
              <a:lnSpc>
                <a:spcPts val="3150"/>
              </a:lnSpc>
              <a:spcAft>
                <a:spcPts val="1200"/>
              </a:spcAft>
            </a:pPr>
            <a:r>
              <a:rPr lang="zh-CN" altLang="en-US" sz="2400" b="1" dirty="0">
                <a:solidFill>
                  <a:srgbClr val="333333"/>
                </a:solidFill>
                <a:latin typeface="Microsoft YaHei" pitchFamily="34" charset="0"/>
                <a:ea typeface="Microsoft YaHei" pitchFamily="34" charset="-122"/>
                <a:cs typeface="Microsoft YaHei" pitchFamily="34" charset="-120"/>
              </a:rPr>
              <a:t>采用 “前端 </a:t>
            </a:r>
            <a:r>
              <a:rPr lang="en-US" altLang="zh-CN" sz="2400" b="1" dirty="0">
                <a:solidFill>
                  <a:srgbClr val="333333"/>
                </a:solidFill>
                <a:latin typeface="Microsoft YaHei" pitchFamily="34" charset="0"/>
                <a:ea typeface="Microsoft YaHei" pitchFamily="34" charset="-122"/>
                <a:cs typeface="Microsoft YaHei" pitchFamily="34" charset="-120"/>
              </a:rPr>
              <a:t>- </a:t>
            </a:r>
            <a:r>
              <a:rPr lang="zh-CN" altLang="en-US" sz="2400" b="1" dirty="0">
                <a:solidFill>
                  <a:srgbClr val="333333"/>
                </a:solidFill>
                <a:latin typeface="Microsoft YaHei" pitchFamily="34" charset="0"/>
                <a:ea typeface="Microsoft YaHei" pitchFamily="34" charset="-122"/>
                <a:cs typeface="Microsoft YaHei" pitchFamily="34" charset="-120"/>
              </a:rPr>
              <a:t>后端 </a:t>
            </a:r>
            <a:r>
              <a:rPr lang="en-US" altLang="zh-CN" sz="2400" b="1" dirty="0">
                <a:solidFill>
                  <a:srgbClr val="333333"/>
                </a:solidFill>
                <a:latin typeface="Microsoft YaHei" pitchFamily="34" charset="0"/>
                <a:ea typeface="Microsoft YaHei" pitchFamily="34" charset="-122"/>
                <a:cs typeface="Microsoft YaHei" pitchFamily="34" charset="-120"/>
              </a:rPr>
              <a:t>- </a:t>
            </a:r>
            <a:r>
              <a:rPr lang="zh-CN" altLang="en-US" sz="2400" b="1" dirty="0">
                <a:solidFill>
                  <a:srgbClr val="333333"/>
                </a:solidFill>
                <a:latin typeface="Microsoft YaHei" pitchFamily="34" charset="0"/>
                <a:ea typeface="Microsoft YaHei" pitchFamily="34" charset="-122"/>
                <a:cs typeface="Microsoft YaHei" pitchFamily="34" charset="-120"/>
              </a:rPr>
              <a:t>数据存储”三层架构</a:t>
            </a:r>
            <a:endParaRPr lang="en-US" altLang="zh-CN" sz="2000" b="1" dirty="0">
              <a:solidFill>
                <a:srgbClr val="333333"/>
              </a:solidFill>
              <a:latin typeface="Microsoft YaHei" pitchFamily="34" charset="0"/>
              <a:ea typeface="Microsoft YaHei" pitchFamily="34" charset="-122"/>
              <a:cs typeface="Microsoft YaHei" pitchFamily="34" charset="-120"/>
            </a:endParaRPr>
          </a:p>
          <a:p>
            <a:pPr>
              <a:lnSpc>
                <a:spcPts val="3150"/>
              </a:lnSpc>
            </a:pPr>
            <a:r>
              <a:rPr lang="zh-CN" altLang="en-US" sz="1400" b="1" dirty="0">
                <a:solidFill>
                  <a:srgbClr val="333333"/>
                </a:solidFill>
                <a:latin typeface="Microsoft YaHei" pitchFamily="34" charset="0"/>
                <a:ea typeface="Microsoft YaHei" pitchFamily="34" charset="-122"/>
                <a:cs typeface="Microsoft YaHei" pitchFamily="34" charset="-120"/>
              </a:rPr>
              <a:t>核心为 “本地闭环 </a:t>
            </a:r>
            <a:r>
              <a:rPr lang="en-US" altLang="zh-CN" sz="1400" b="1" dirty="0">
                <a:solidFill>
                  <a:srgbClr val="333333"/>
                </a:solidFill>
                <a:latin typeface="Microsoft YaHei" pitchFamily="34" charset="0"/>
                <a:ea typeface="Microsoft YaHei" pitchFamily="34" charset="-122"/>
                <a:cs typeface="Microsoft YaHei" pitchFamily="34" charset="-120"/>
              </a:rPr>
              <a:t>+ </a:t>
            </a:r>
            <a:r>
              <a:rPr lang="zh-CN" altLang="en-US" sz="1400" b="1" dirty="0">
                <a:solidFill>
                  <a:srgbClr val="333333"/>
                </a:solidFill>
                <a:latin typeface="Microsoft YaHei" pitchFamily="34" charset="0"/>
                <a:ea typeface="Microsoft YaHei" pitchFamily="34" charset="-122"/>
                <a:cs typeface="Microsoft YaHei" pitchFamily="34" charset="-120"/>
              </a:rPr>
              <a:t>按需联网” 模式</a:t>
            </a:r>
          </a:p>
          <a:p>
            <a:pPr>
              <a:lnSpc>
                <a:spcPts val="3150"/>
              </a:lnSpc>
            </a:pPr>
            <a:r>
              <a:rPr lang="zh-CN" altLang="en-US" sz="1400" b="1" dirty="0">
                <a:solidFill>
                  <a:schemeClr val="accent1"/>
                </a:solidFill>
                <a:latin typeface="Microsoft YaHei" pitchFamily="34" charset="0"/>
                <a:ea typeface="Microsoft YaHei" pitchFamily="34" charset="-122"/>
                <a:cs typeface="Microsoft YaHei" pitchFamily="34" charset="-120"/>
              </a:rPr>
              <a:t>表现层（</a:t>
            </a:r>
            <a:r>
              <a:rPr lang="en-US" altLang="zh-CN" sz="1400" b="1" dirty="0">
                <a:solidFill>
                  <a:schemeClr val="accent1"/>
                </a:solidFill>
                <a:latin typeface="Microsoft YaHei" pitchFamily="34" charset="0"/>
                <a:ea typeface="Microsoft YaHei" pitchFamily="34" charset="-122"/>
                <a:cs typeface="Microsoft YaHei" pitchFamily="34" charset="-120"/>
              </a:rPr>
              <a:t>Electron </a:t>
            </a:r>
            <a:r>
              <a:rPr lang="zh-CN" altLang="en-US" sz="1400" b="1" dirty="0">
                <a:solidFill>
                  <a:schemeClr val="accent1"/>
                </a:solidFill>
                <a:latin typeface="Microsoft YaHei" pitchFamily="34" charset="0"/>
                <a:ea typeface="Microsoft YaHei" pitchFamily="34" charset="-122"/>
                <a:cs typeface="Microsoft YaHei" pitchFamily="34" charset="-120"/>
              </a:rPr>
              <a:t>前端）</a:t>
            </a:r>
            <a:r>
              <a:rPr lang="zh-CN" altLang="en-US" sz="1400" b="1" dirty="0">
                <a:latin typeface="Microsoft YaHei" pitchFamily="34" charset="0"/>
                <a:ea typeface="Microsoft YaHei" pitchFamily="34" charset="-122"/>
                <a:cs typeface="Microsoft YaHei" pitchFamily="34" charset="-120"/>
              </a:rPr>
              <a:t>：</a:t>
            </a:r>
            <a:r>
              <a:rPr lang="zh-CN" altLang="en-US" sz="1400" b="1" dirty="0">
                <a:solidFill>
                  <a:srgbClr val="333333"/>
                </a:solidFill>
                <a:latin typeface="Microsoft YaHei" pitchFamily="34" charset="0"/>
                <a:ea typeface="Microsoft YaHei" pitchFamily="34" charset="-122"/>
                <a:cs typeface="Microsoft YaHei" pitchFamily="34" charset="-120"/>
              </a:rPr>
              <a:t>基于 </a:t>
            </a:r>
            <a:r>
              <a:rPr lang="en-US" altLang="zh-CN" sz="1400" b="1" dirty="0">
                <a:solidFill>
                  <a:srgbClr val="333333"/>
                </a:solidFill>
                <a:latin typeface="Microsoft YaHei" pitchFamily="34" charset="0"/>
                <a:ea typeface="Microsoft YaHei" pitchFamily="34" charset="-122"/>
                <a:cs typeface="Microsoft YaHei" pitchFamily="34" charset="-120"/>
              </a:rPr>
              <a:t>Vue3+Vite </a:t>
            </a:r>
            <a:r>
              <a:rPr lang="zh-CN" altLang="en-US" sz="1400" b="1" dirty="0">
                <a:solidFill>
                  <a:srgbClr val="333333"/>
                </a:solidFill>
                <a:latin typeface="Microsoft YaHei" pitchFamily="34" charset="0"/>
                <a:ea typeface="Microsoft YaHei" pitchFamily="34" charset="-122"/>
                <a:cs typeface="Microsoft YaHei" pitchFamily="34" charset="-120"/>
              </a:rPr>
              <a:t>实现桌面交互界面，提供文本编辑、拖拽上传、对话展</a:t>
            </a:r>
          </a:p>
          <a:p>
            <a:pPr>
              <a:lnSpc>
                <a:spcPts val="3150"/>
              </a:lnSpc>
            </a:pPr>
            <a:r>
              <a:rPr lang="zh-CN" altLang="en-US" sz="1400" b="1" dirty="0">
                <a:solidFill>
                  <a:srgbClr val="333333"/>
                </a:solidFill>
                <a:latin typeface="Microsoft YaHei" pitchFamily="34" charset="0"/>
                <a:ea typeface="Microsoft YaHei" pitchFamily="34" charset="-122"/>
                <a:cs typeface="Microsoft YaHei" pitchFamily="34" charset="-120"/>
              </a:rPr>
              <a:t>示等功能，通过 </a:t>
            </a:r>
            <a:r>
              <a:rPr lang="en-US" altLang="zh-CN" sz="1400" b="1" dirty="0">
                <a:solidFill>
                  <a:srgbClr val="333333"/>
                </a:solidFill>
                <a:latin typeface="Microsoft YaHei" pitchFamily="34" charset="0"/>
                <a:ea typeface="Microsoft YaHei" pitchFamily="34" charset="-122"/>
                <a:cs typeface="Microsoft YaHei" pitchFamily="34" charset="-120"/>
              </a:rPr>
              <a:t>Electron </a:t>
            </a:r>
            <a:r>
              <a:rPr lang="zh-CN" altLang="en-US" sz="1400" b="1" dirty="0">
                <a:solidFill>
                  <a:srgbClr val="333333"/>
                </a:solidFill>
                <a:latin typeface="Microsoft YaHei" pitchFamily="34" charset="0"/>
                <a:ea typeface="Microsoft YaHei" pitchFamily="34" charset="-122"/>
                <a:cs typeface="Microsoft YaHei" pitchFamily="34" charset="-120"/>
              </a:rPr>
              <a:t>实现本地文件操作与系统级交互。</a:t>
            </a:r>
          </a:p>
          <a:p>
            <a:pPr>
              <a:lnSpc>
                <a:spcPts val="3150"/>
              </a:lnSpc>
            </a:pPr>
            <a:r>
              <a:rPr lang="zh-CN" altLang="en-US" sz="1400" b="1" dirty="0">
                <a:solidFill>
                  <a:schemeClr val="accent1"/>
                </a:solidFill>
                <a:latin typeface="Microsoft YaHei" pitchFamily="34" charset="0"/>
                <a:ea typeface="Microsoft YaHei" pitchFamily="34" charset="-122"/>
                <a:cs typeface="Microsoft YaHei" pitchFamily="34" charset="-120"/>
              </a:rPr>
              <a:t>应用层（</a:t>
            </a:r>
            <a:r>
              <a:rPr lang="en-US" altLang="zh-CN" sz="1400" b="1" dirty="0">
                <a:solidFill>
                  <a:schemeClr val="accent1"/>
                </a:solidFill>
                <a:latin typeface="Microsoft YaHei" pitchFamily="34" charset="0"/>
                <a:ea typeface="Microsoft YaHei" pitchFamily="34" charset="-122"/>
                <a:cs typeface="Microsoft YaHei" pitchFamily="34" charset="-120"/>
              </a:rPr>
              <a:t>Java </a:t>
            </a:r>
            <a:r>
              <a:rPr lang="zh-CN" altLang="en-US" sz="1400" b="1" dirty="0">
                <a:solidFill>
                  <a:schemeClr val="accent1"/>
                </a:solidFill>
                <a:latin typeface="Microsoft YaHei" pitchFamily="34" charset="0"/>
                <a:ea typeface="Microsoft YaHei" pitchFamily="34" charset="-122"/>
                <a:cs typeface="Microsoft YaHei" pitchFamily="34" charset="-120"/>
              </a:rPr>
              <a:t>嵌入式后端）</a:t>
            </a:r>
            <a:r>
              <a:rPr lang="zh-CN" altLang="en-US" sz="1400" b="1" dirty="0">
                <a:solidFill>
                  <a:srgbClr val="333333"/>
                </a:solidFill>
                <a:latin typeface="Microsoft YaHei" pitchFamily="34" charset="0"/>
                <a:ea typeface="Microsoft YaHei" pitchFamily="34" charset="-122"/>
                <a:cs typeface="Microsoft YaHei" pitchFamily="34" charset="-120"/>
              </a:rPr>
              <a:t>：基于 </a:t>
            </a:r>
            <a:r>
              <a:rPr lang="en-US" altLang="zh-CN" sz="1400" b="1" dirty="0">
                <a:solidFill>
                  <a:srgbClr val="333333"/>
                </a:solidFill>
                <a:latin typeface="Microsoft YaHei" pitchFamily="34" charset="0"/>
                <a:ea typeface="Microsoft YaHei" pitchFamily="34" charset="-122"/>
                <a:cs typeface="Microsoft YaHei" pitchFamily="34" charset="-120"/>
              </a:rPr>
              <a:t>Spring Boot </a:t>
            </a:r>
            <a:r>
              <a:rPr lang="zh-CN" altLang="en-US" sz="1400" b="1" dirty="0">
                <a:solidFill>
                  <a:srgbClr val="333333"/>
                </a:solidFill>
                <a:latin typeface="Microsoft YaHei" pitchFamily="34" charset="0"/>
                <a:ea typeface="Microsoft YaHei" pitchFamily="34" charset="-122"/>
                <a:cs typeface="Microsoft YaHei" pitchFamily="34" charset="-120"/>
              </a:rPr>
              <a:t>构建本地 </a:t>
            </a:r>
            <a:r>
              <a:rPr lang="en-US" altLang="zh-CN" sz="1400" b="1" dirty="0">
                <a:solidFill>
                  <a:srgbClr val="333333"/>
                </a:solidFill>
                <a:latin typeface="Microsoft YaHei" pitchFamily="34" charset="0"/>
                <a:ea typeface="Microsoft YaHei" pitchFamily="34" charset="-122"/>
                <a:cs typeface="Microsoft YaHei" pitchFamily="34" charset="-120"/>
              </a:rPr>
              <a:t>API </a:t>
            </a:r>
            <a:r>
              <a:rPr lang="zh-CN" altLang="en-US" sz="1400" b="1" dirty="0">
                <a:solidFill>
                  <a:srgbClr val="333333"/>
                </a:solidFill>
                <a:latin typeface="Microsoft YaHei" pitchFamily="34" charset="0"/>
                <a:ea typeface="Microsoft YaHei" pitchFamily="34" charset="-122"/>
                <a:cs typeface="Microsoft YaHei" pitchFamily="34" charset="-120"/>
              </a:rPr>
              <a:t>服务，处理业务逻辑、本地数据操</a:t>
            </a:r>
          </a:p>
          <a:p>
            <a:pPr>
              <a:lnSpc>
                <a:spcPts val="3150"/>
              </a:lnSpc>
            </a:pPr>
            <a:r>
              <a:rPr lang="zh-CN" altLang="en-US" sz="1400" b="1" dirty="0">
                <a:solidFill>
                  <a:srgbClr val="333333"/>
                </a:solidFill>
                <a:latin typeface="Microsoft YaHei" pitchFamily="34" charset="0"/>
                <a:ea typeface="Microsoft YaHei" pitchFamily="34" charset="-122"/>
                <a:cs typeface="Microsoft YaHei" pitchFamily="34" charset="-120"/>
              </a:rPr>
              <a:t>作、</a:t>
            </a:r>
            <a:r>
              <a:rPr lang="en-US" altLang="zh-CN" sz="1400" b="1" dirty="0">
                <a:solidFill>
                  <a:srgbClr val="333333"/>
                </a:solidFill>
                <a:latin typeface="Microsoft YaHei" pitchFamily="34" charset="0"/>
                <a:ea typeface="Microsoft YaHei" pitchFamily="34" charset="-122"/>
                <a:cs typeface="Microsoft YaHei" pitchFamily="34" charset="-120"/>
              </a:rPr>
              <a:t>LLM API </a:t>
            </a:r>
            <a:r>
              <a:rPr lang="zh-CN" altLang="en-US" sz="1400" b="1" dirty="0">
                <a:solidFill>
                  <a:srgbClr val="333333"/>
                </a:solidFill>
                <a:latin typeface="Microsoft YaHei" pitchFamily="34" charset="0"/>
                <a:ea typeface="Microsoft YaHei" pitchFamily="34" charset="-122"/>
                <a:cs typeface="Microsoft YaHei" pitchFamily="34" charset="-120"/>
              </a:rPr>
              <a:t>调用及文件管理，无远程服务器依赖。</a:t>
            </a:r>
          </a:p>
          <a:p>
            <a:pPr>
              <a:lnSpc>
                <a:spcPts val="3150"/>
              </a:lnSpc>
            </a:pPr>
            <a:r>
              <a:rPr lang="zh-CN" altLang="en-US" sz="1400" b="1" dirty="0">
                <a:solidFill>
                  <a:schemeClr val="accent1"/>
                </a:solidFill>
                <a:latin typeface="Microsoft YaHei" pitchFamily="34" charset="0"/>
                <a:ea typeface="Microsoft YaHei" pitchFamily="34" charset="-122"/>
                <a:cs typeface="Microsoft YaHei" pitchFamily="34" charset="-120"/>
              </a:rPr>
              <a:t>数据层</a:t>
            </a:r>
            <a:r>
              <a:rPr lang="zh-CN" altLang="en-US" sz="1400" b="1" dirty="0">
                <a:solidFill>
                  <a:srgbClr val="333333"/>
                </a:solidFill>
                <a:latin typeface="Microsoft YaHei" pitchFamily="34" charset="0"/>
                <a:ea typeface="Microsoft YaHei" pitchFamily="34" charset="-122"/>
                <a:cs typeface="Microsoft YaHei" pitchFamily="34" charset="-120"/>
              </a:rPr>
              <a:t>：采用 </a:t>
            </a:r>
            <a:r>
              <a:rPr lang="en-US" altLang="zh-CN" sz="1400" b="1" dirty="0">
                <a:solidFill>
                  <a:srgbClr val="333333"/>
                </a:solidFill>
                <a:latin typeface="Microsoft YaHei" pitchFamily="34" charset="0"/>
                <a:ea typeface="Microsoft YaHei" pitchFamily="34" charset="-122"/>
                <a:cs typeface="Microsoft YaHei" pitchFamily="34" charset="-120"/>
              </a:rPr>
              <a:t>MySQL </a:t>
            </a:r>
            <a:r>
              <a:rPr lang="zh-CN" altLang="en-US" sz="1400" b="1" dirty="0">
                <a:solidFill>
                  <a:srgbClr val="333333"/>
                </a:solidFill>
                <a:latin typeface="Microsoft YaHei" pitchFamily="34" charset="0"/>
                <a:ea typeface="Microsoft YaHei" pitchFamily="34" charset="-122"/>
                <a:cs typeface="Microsoft YaHei" pitchFamily="34" charset="-120"/>
              </a:rPr>
              <a:t>存储结构化数据，本地文件系统存储音频、文本与网页快照等。</a:t>
            </a:r>
            <a:endParaRPr lang="en-US" sz="1400" dirty="0"/>
          </a:p>
        </p:txBody>
      </p:sp>
      <p:sp>
        <p:nvSpPr>
          <p:cNvPr id="5" name="Text 2">
            <a:extLst>
              <a:ext uri="{FF2B5EF4-FFF2-40B4-BE49-F238E27FC236}">
                <a16:creationId xmlns:a16="http://schemas.microsoft.com/office/drawing/2014/main" id="{1144BB63-1186-C4AD-DD29-06392294B297}"/>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Tree>
    <p:extLst>
      <p:ext uri="{BB962C8B-B14F-4D97-AF65-F5344CB8AC3E}">
        <p14:creationId xmlns:p14="http://schemas.microsoft.com/office/powerpoint/2010/main" val="171092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17711-7672-2384-639C-18C044982B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B9CEFE-EF8C-B4BB-7C41-E2085A8D57AA}"/>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72F22789-FF33-AEA6-0E65-EB05CFA17585}"/>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ACB7AB18-BA53-B748-3722-BBA6B5C505BF}"/>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345E16A1-1E36-C081-767A-94022575F0F8}"/>
              </a:ext>
            </a:extLst>
          </p:cNvPr>
          <p:cNvSpPr/>
          <p:nvPr/>
        </p:nvSpPr>
        <p:spPr>
          <a:xfrm>
            <a:off x="571500" y="596770"/>
            <a:ext cx="8001000" cy="800100"/>
          </a:xfrm>
          <a:prstGeom prst="rect">
            <a:avLst/>
          </a:prstGeom>
          <a:noFill/>
          <a:ln/>
        </p:spPr>
        <p:txBody>
          <a:bodyPr vert="horz" wrap="square" lIns="0" tIns="0" rIns="0" bIns="0" rtlCol="0" anchor="ctr"/>
          <a:lstStyle/>
          <a:p>
            <a:pPr>
              <a:lnSpc>
                <a:spcPts val="3150"/>
              </a:lnSpc>
            </a:pPr>
            <a:r>
              <a:rPr lang="en-US" altLang="zh-CN" sz="4000" b="1" dirty="0">
                <a:solidFill>
                  <a:schemeClr val="bg1"/>
                </a:solidFill>
                <a:latin typeface="等线" panose="02010600030101010101" pitchFamily="2" charset="-122"/>
                <a:ea typeface="等线" panose="02010600030101010101" pitchFamily="2" charset="-122"/>
              </a:rPr>
              <a:t>Electron</a:t>
            </a:r>
            <a:r>
              <a:rPr lang="en-US" altLang="zh-CN" sz="4000" b="1" dirty="0">
                <a:solidFill>
                  <a:schemeClr val="bg1"/>
                </a:solidFill>
                <a:latin typeface="Microsoft YaHei" pitchFamily="34" charset="0"/>
                <a:ea typeface="Microsoft YaHei" pitchFamily="34" charset="-122"/>
              </a:rPr>
              <a:t>+</a:t>
            </a:r>
            <a:r>
              <a:rPr lang="en-US" altLang="zh-CN" sz="4000" b="1" dirty="0">
                <a:solidFill>
                  <a:schemeClr val="bg1"/>
                </a:solidFill>
                <a:latin typeface="Microsoft YaHei" pitchFamily="34" charset="0"/>
                <a:ea typeface="Microsoft YaHei" pitchFamily="34" charset="-122"/>
                <a:cs typeface="Microsoft YaHei" pitchFamily="34" charset="-120"/>
              </a:rPr>
              <a:t>Vue3+Vite </a:t>
            </a:r>
            <a:endParaRPr lang="en-US" sz="4000" b="1" dirty="0">
              <a:solidFill>
                <a:schemeClr val="bg1"/>
              </a:solidFill>
              <a:latin typeface="等线" panose="02010600030101010101" pitchFamily="2" charset="-122"/>
              <a:ea typeface="等线" panose="02010600030101010101" pitchFamily="2" charset="-122"/>
            </a:endParaRPr>
          </a:p>
        </p:txBody>
      </p:sp>
      <p:sp>
        <p:nvSpPr>
          <p:cNvPr id="6" name="Text 2">
            <a:extLst>
              <a:ext uri="{FF2B5EF4-FFF2-40B4-BE49-F238E27FC236}">
                <a16:creationId xmlns:a16="http://schemas.microsoft.com/office/drawing/2014/main" id="{8223D1E6-A131-7ED8-C7C0-3A550A393233}"/>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9" name="文本框 18">
            <a:extLst>
              <a:ext uri="{FF2B5EF4-FFF2-40B4-BE49-F238E27FC236}">
                <a16:creationId xmlns:a16="http://schemas.microsoft.com/office/drawing/2014/main" id="{C22CBAA5-FD10-A957-4F7F-4E1842C55FDC}"/>
              </a:ext>
            </a:extLst>
          </p:cNvPr>
          <p:cNvSpPr txBox="1"/>
          <p:nvPr/>
        </p:nvSpPr>
        <p:spPr>
          <a:xfrm>
            <a:off x="441648" y="1768929"/>
            <a:ext cx="5194041" cy="700576"/>
          </a:xfrm>
          <a:prstGeom prst="rect">
            <a:avLst/>
          </a:prstGeom>
          <a:noFill/>
        </p:spPr>
        <p:txBody>
          <a:bodyPr wrap="square" rtlCol="0">
            <a:spAutoFit/>
          </a:bodyPr>
          <a:lstStyle/>
          <a:p>
            <a:pPr>
              <a:lnSpc>
                <a:spcPct val="150000"/>
              </a:lnSpc>
            </a:pPr>
            <a:r>
              <a:rPr lang="en-US" altLang="zh-CN" sz="1400" b="1" dirty="0">
                <a:solidFill>
                  <a:srgbClr val="333333"/>
                </a:solidFill>
                <a:latin typeface="Microsoft YaHei" pitchFamily="34" charset="0"/>
                <a:ea typeface="Microsoft YaHei" pitchFamily="34" charset="-122"/>
              </a:rPr>
              <a:t>Electron</a:t>
            </a:r>
            <a:r>
              <a:rPr lang="zh-CN" altLang="en-US" sz="1400" b="1" dirty="0">
                <a:solidFill>
                  <a:srgbClr val="333333"/>
                </a:solidFill>
                <a:latin typeface="Microsoft YaHei" pitchFamily="34" charset="0"/>
                <a:ea typeface="Microsoft YaHei" pitchFamily="34" charset="-122"/>
              </a:rPr>
              <a:t>使开发者能用 </a:t>
            </a:r>
            <a:r>
              <a:rPr lang="en-US" altLang="zh-CN" sz="1400" b="1" dirty="0">
                <a:solidFill>
                  <a:srgbClr val="333333"/>
                </a:solidFill>
                <a:latin typeface="Microsoft YaHei" pitchFamily="34" charset="0"/>
                <a:ea typeface="Microsoft YaHei" pitchFamily="34" charset="-122"/>
              </a:rPr>
              <a:t>HTML</a:t>
            </a:r>
            <a:r>
              <a:rPr lang="zh-CN" altLang="en-US" sz="1400" b="1" dirty="0">
                <a:solidFill>
                  <a:srgbClr val="333333"/>
                </a:solidFill>
                <a:latin typeface="Microsoft YaHei" pitchFamily="34" charset="0"/>
                <a:ea typeface="Microsoft YaHei" pitchFamily="34" charset="-122"/>
              </a:rPr>
              <a:t>、</a:t>
            </a:r>
            <a:r>
              <a:rPr lang="en-US" altLang="zh-CN" sz="1400" b="1" dirty="0">
                <a:solidFill>
                  <a:srgbClr val="333333"/>
                </a:solidFill>
                <a:latin typeface="Microsoft YaHei" pitchFamily="34" charset="0"/>
                <a:ea typeface="Microsoft YaHei" pitchFamily="34" charset="-122"/>
              </a:rPr>
              <a:t>CSS</a:t>
            </a:r>
            <a:r>
              <a:rPr lang="zh-CN" altLang="en-US" sz="1400" b="1" dirty="0">
                <a:solidFill>
                  <a:srgbClr val="333333"/>
                </a:solidFill>
                <a:latin typeface="Microsoft YaHei" pitchFamily="34" charset="0"/>
                <a:ea typeface="Microsoft YaHei" pitchFamily="34" charset="-122"/>
              </a:rPr>
              <a:t>、</a:t>
            </a:r>
            <a:r>
              <a:rPr lang="en-US" altLang="zh-CN" sz="1400" b="1" dirty="0">
                <a:solidFill>
                  <a:srgbClr val="333333"/>
                </a:solidFill>
                <a:latin typeface="Microsoft YaHei" pitchFamily="34" charset="0"/>
                <a:ea typeface="Microsoft YaHei" pitchFamily="34" charset="-122"/>
              </a:rPr>
              <a:t>JavaScript </a:t>
            </a:r>
            <a:r>
              <a:rPr lang="zh-CN" altLang="en-US" sz="1400" b="1" dirty="0">
                <a:solidFill>
                  <a:srgbClr val="333333"/>
                </a:solidFill>
                <a:latin typeface="Microsoft YaHei" pitchFamily="34" charset="0"/>
                <a:ea typeface="Microsoft YaHei" pitchFamily="34" charset="-122"/>
              </a:rPr>
              <a:t>等前端技术，构建可运行在 </a:t>
            </a:r>
            <a:r>
              <a:rPr lang="en-US" altLang="zh-CN" sz="1400" b="1" dirty="0">
                <a:solidFill>
                  <a:srgbClr val="333333"/>
                </a:solidFill>
                <a:latin typeface="Microsoft YaHei" pitchFamily="34" charset="0"/>
                <a:ea typeface="Microsoft YaHei" pitchFamily="34" charset="-122"/>
              </a:rPr>
              <a:t>Windows</a:t>
            </a:r>
            <a:r>
              <a:rPr lang="zh-CN" altLang="en-US" sz="1400" b="1" dirty="0">
                <a:solidFill>
                  <a:srgbClr val="333333"/>
                </a:solidFill>
                <a:latin typeface="Microsoft YaHei" pitchFamily="34" charset="0"/>
                <a:ea typeface="Microsoft YaHei" pitchFamily="34" charset="-122"/>
              </a:rPr>
              <a:t>、</a:t>
            </a:r>
            <a:r>
              <a:rPr lang="en-US" altLang="zh-CN" sz="1400" b="1" dirty="0">
                <a:solidFill>
                  <a:srgbClr val="333333"/>
                </a:solidFill>
                <a:latin typeface="Microsoft YaHei" pitchFamily="34" charset="0"/>
                <a:ea typeface="Microsoft YaHei" pitchFamily="34" charset="-122"/>
              </a:rPr>
              <a:t>Linux </a:t>
            </a:r>
            <a:r>
              <a:rPr lang="zh-CN" altLang="en-US" sz="1400" b="1" dirty="0">
                <a:solidFill>
                  <a:srgbClr val="333333"/>
                </a:solidFill>
                <a:latin typeface="Microsoft YaHei" pitchFamily="34" charset="0"/>
                <a:ea typeface="Microsoft YaHei" pitchFamily="34" charset="-122"/>
              </a:rPr>
              <a:t>系统的原生桌面应用。</a:t>
            </a:r>
          </a:p>
        </p:txBody>
      </p:sp>
      <p:sp>
        <p:nvSpPr>
          <p:cNvPr id="20" name="文本框 19">
            <a:extLst>
              <a:ext uri="{FF2B5EF4-FFF2-40B4-BE49-F238E27FC236}">
                <a16:creationId xmlns:a16="http://schemas.microsoft.com/office/drawing/2014/main" id="{FF309903-9FA0-2EAD-614C-8FCA9B4C844D}"/>
              </a:ext>
            </a:extLst>
          </p:cNvPr>
          <p:cNvSpPr txBox="1"/>
          <p:nvPr/>
        </p:nvSpPr>
        <p:spPr>
          <a:xfrm>
            <a:off x="441648" y="2601595"/>
            <a:ext cx="6357258" cy="2316403"/>
          </a:xfrm>
          <a:prstGeom prst="rect">
            <a:avLst/>
          </a:prstGeom>
          <a:noFill/>
        </p:spPr>
        <p:txBody>
          <a:bodyPr wrap="square" rtlCol="0">
            <a:spAutoFit/>
          </a:bodyPr>
          <a:lstStyle/>
          <a:p>
            <a:pPr>
              <a:lnSpc>
                <a:spcPct val="150000"/>
              </a:lnSpc>
            </a:pPr>
            <a:r>
              <a:rPr lang="en-US" altLang="zh-CN" sz="1400" b="1" dirty="0">
                <a:solidFill>
                  <a:srgbClr val="333333"/>
                </a:solidFill>
                <a:latin typeface="Microsoft YaHei" pitchFamily="34" charset="0"/>
                <a:ea typeface="Microsoft YaHei" pitchFamily="34" charset="-122"/>
              </a:rPr>
              <a:t>Electron+Vue3+Vite </a:t>
            </a:r>
            <a:r>
              <a:rPr lang="zh-CN" altLang="en-US" sz="1400" b="1" dirty="0">
                <a:solidFill>
                  <a:srgbClr val="333333"/>
                </a:solidFill>
                <a:latin typeface="Microsoft YaHei" pitchFamily="34" charset="0"/>
                <a:ea typeface="Microsoft YaHei" pitchFamily="34" charset="-122"/>
              </a:rPr>
              <a:t>的组合，将前端领域的现代化开发体验与桌面应用的原生能力深度融合。其核心优势有：</a:t>
            </a:r>
            <a:endParaRPr lang="en-US" altLang="zh-CN" sz="1400" b="1" dirty="0">
              <a:solidFill>
                <a:srgbClr val="333333"/>
              </a:solidFill>
              <a:latin typeface="Microsoft YaHei" pitchFamily="34" charset="0"/>
              <a:ea typeface="Microsoft YaHei" pitchFamily="34" charset="-122"/>
            </a:endParaRPr>
          </a:p>
          <a:p>
            <a:pPr>
              <a:lnSpc>
                <a:spcPct val="150000"/>
              </a:lnSpc>
            </a:pPr>
            <a:r>
              <a:rPr lang="en-US" altLang="zh-CN" sz="1400" b="1" dirty="0">
                <a:solidFill>
                  <a:srgbClr val="333333"/>
                </a:solidFill>
                <a:latin typeface="Microsoft YaHei" pitchFamily="34" charset="0"/>
                <a:ea typeface="Microsoft YaHei" pitchFamily="34" charset="-122"/>
              </a:rPr>
              <a:t>   </a:t>
            </a:r>
            <a:r>
              <a:rPr lang="zh-CN" altLang="en-US" sz="1400" b="1" dirty="0">
                <a:solidFill>
                  <a:srgbClr val="333333"/>
                </a:solidFill>
                <a:latin typeface="Microsoft YaHei" pitchFamily="34" charset="0"/>
                <a:ea typeface="Microsoft YaHei" pitchFamily="34" charset="-122"/>
              </a:rPr>
              <a:t>极速的开发构建效率</a:t>
            </a:r>
            <a:endParaRPr lang="en-US" altLang="zh-CN" sz="1400" b="1" dirty="0">
              <a:solidFill>
                <a:srgbClr val="333333"/>
              </a:solidFill>
              <a:latin typeface="Microsoft YaHei" pitchFamily="34" charset="0"/>
              <a:ea typeface="Microsoft YaHei" pitchFamily="34" charset="-122"/>
            </a:endParaRPr>
          </a:p>
          <a:p>
            <a:pPr>
              <a:lnSpc>
                <a:spcPct val="150000"/>
              </a:lnSpc>
            </a:pPr>
            <a:r>
              <a:rPr lang="en-US" altLang="zh-CN" sz="1400" b="1" dirty="0">
                <a:solidFill>
                  <a:srgbClr val="333333"/>
                </a:solidFill>
                <a:latin typeface="Microsoft YaHei" pitchFamily="34" charset="0"/>
                <a:ea typeface="Microsoft YaHei" pitchFamily="34" charset="-122"/>
              </a:rPr>
              <a:t>   Vue3 </a:t>
            </a:r>
            <a:r>
              <a:rPr lang="zh-CN" altLang="en-US" sz="1400" b="1" dirty="0">
                <a:solidFill>
                  <a:srgbClr val="333333"/>
                </a:solidFill>
                <a:latin typeface="Microsoft YaHei" pitchFamily="34" charset="0"/>
                <a:ea typeface="Microsoft YaHei" pitchFamily="34" charset="-122"/>
              </a:rPr>
              <a:t>的简洁可维护的代码风格</a:t>
            </a:r>
            <a:endParaRPr lang="en-US" altLang="zh-CN" sz="1400" b="1" dirty="0">
              <a:solidFill>
                <a:srgbClr val="333333"/>
              </a:solidFill>
              <a:latin typeface="Microsoft YaHei" pitchFamily="34" charset="0"/>
              <a:ea typeface="Microsoft YaHei" pitchFamily="34" charset="-122"/>
            </a:endParaRPr>
          </a:p>
          <a:p>
            <a:pPr>
              <a:lnSpc>
                <a:spcPct val="150000"/>
              </a:lnSpc>
            </a:pPr>
            <a:r>
              <a:rPr lang="en-US" altLang="zh-CN" sz="1400" b="1" dirty="0">
                <a:solidFill>
                  <a:srgbClr val="333333"/>
                </a:solidFill>
                <a:latin typeface="Microsoft YaHei" pitchFamily="34" charset="0"/>
                <a:ea typeface="Microsoft YaHei" pitchFamily="34" charset="-122"/>
              </a:rPr>
              <a:t>   Vite </a:t>
            </a:r>
            <a:r>
              <a:rPr lang="zh-CN" altLang="en-US" sz="1400" b="1" dirty="0">
                <a:solidFill>
                  <a:srgbClr val="333333"/>
                </a:solidFill>
                <a:latin typeface="Microsoft YaHei" pitchFamily="34" charset="0"/>
                <a:ea typeface="Microsoft YaHei" pitchFamily="34" charset="-122"/>
              </a:rPr>
              <a:t>的性能优化</a:t>
            </a:r>
            <a:endParaRPr lang="en-US" altLang="zh-CN" sz="1400" b="1" dirty="0">
              <a:solidFill>
                <a:srgbClr val="333333"/>
              </a:solidFill>
              <a:latin typeface="Microsoft YaHei" pitchFamily="34" charset="0"/>
              <a:ea typeface="Microsoft YaHei" pitchFamily="34" charset="-122"/>
            </a:endParaRPr>
          </a:p>
          <a:p>
            <a:pPr>
              <a:lnSpc>
                <a:spcPct val="150000"/>
              </a:lnSpc>
            </a:pPr>
            <a:r>
              <a:rPr lang="en-US" altLang="zh-CN" sz="1400" b="1" dirty="0">
                <a:solidFill>
                  <a:srgbClr val="333333"/>
                </a:solidFill>
                <a:latin typeface="Microsoft YaHei" pitchFamily="34" charset="0"/>
                <a:ea typeface="Microsoft YaHei" pitchFamily="34" charset="-122"/>
              </a:rPr>
              <a:t>   Electron </a:t>
            </a:r>
            <a:r>
              <a:rPr lang="zh-CN" altLang="en-US" sz="1400" b="1" dirty="0">
                <a:solidFill>
                  <a:srgbClr val="333333"/>
                </a:solidFill>
                <a:latin typeface="Microsoft YaHei" pitchFamily="34" charset="0"/>
                <a:ea typeface="Microsoft YaHei" pitchFamily="34" charset="-122"/>
              </a:rPr>
              <a:t>的跨平台原生能力</a:t>
            </a:r>
            <a:endParaRPr lang="en-US" altLang="zh-CN" sz="1400" b="1" dirty="0">
              <a:solidFill>
                <a:srgbClr val="333333"/>
              </a:solidFill>
              <a:latin typeface="Microsoft YaHei" pitchFamily="34" charset="0"/>
              <a:ea typeface="Microsoft YaHei" pitchFamily="34" charset="-122"/>
            </a:endParaRPr>
          </a:p>
          <a:p>
            <a:pPr>
              <a:lnSpc>
                <a:spcPct val="150000"/>
              </a:lnSpc>
            </a:pPr>
            <a:r>
              <a:rPr lang="zh-CN" altLang="en-US" sz="1400" b="1" dirty="0">
                <a:solidFill>
                  <a:srgbClr val="333333"/>
                </a:solidFill>
                <a:latin typeface="Microsoft YaHei" pitchFamily="34" charset="0"/>
                <a:ea typeface="Microsoft YaHei" pitchFamily="34" charset="-122"/>
              </a:rPr>
              <a:t>同时具备低学习成本、丰富的生态扩展等特点。</a:t>
            </a:r>
          </a:p>
        </p:txBody>
      </p:sp>
    </p:spTree>
    <p:extLst>
      <p:ext uri="{BB962C8B-B14F-4D97-AF65-F5344CB8AC3E}">
        <p14:creationId xmlns:p14="http://schemas.microsoft.com/office/powerpoint/2010/main" val="1732476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D8B5-964B-F1B5-D96C-F1D6481B17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932F37-65E1-4498-0514-228EE4B09307}"/>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A8545C03-221F-8CC1-6695-CDCB76DD20B5}"/>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D93F44C9-2747-B965-3EAD-FEAB584D1923}"/>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FB4CDE4C-47EA-670C-AC82-B7FC70294ED9}"/>
              </a:ext>
            </a:extLst>
          </p:cNvPr>
          <p:cNvSpPr/>
          <p:nvPr/>
        </p:nvSpPr>
        <p:spPr>
          <a:xfrm>
            <a:off x="571500" y="596770"/>
            <a:ext cx="8001000" cy="800100"/>
          </a:xfrm>
          <a:prstGeom prst="rect">
            <a:avLst/>
          </a:prstGeom>
          <a:noFill/>
          <a:ln/>
        </p:spPr>
        <p:txBody>
          <a:bodyPr vert="horz" wrap="square" lIns="0" tIns="0" rIns="0" bIns="0" rtlCol="0" anchor="ctr"/>
          <a:lstStyle/>
          <a:p>
            <a:pPr>
              <a:lnSpc>
                <a:spcPts val="3150"/>
              </a:lnSpc>
            </a:pPr>
            <a:r>
              <a:rPr lang="en-US" altLang="zh-CN" sz="4000" b="1" dirty="0">
                <a:solidFill>
                  <a:schemeClr val="bg1"/>
                </a:solidFill>
                <a:latin typeface="Microsoft YaHei" pitchFamily="34" charset="0"/>
                <a:ea typeface="Microsoft YaHei" pitchFamily="34" charset="-122"/>
              </a:rPr>
              <a:t>Backend</a:t>
            </a:r>
            <a:endParaRPr lang="en-US" sz="4000" b="1" dirty="0">
              <a:solidFill>
                <a:schemeClr val="bg1"/>
              </a:solidFill>
              <a:latin typeface="等线" panose="02010600030101010101" pitchFamily="2" charset="-122"/>
              <a:ea typeface="等线" panose="02010600030101010101" pitchFamily="2" charset="-122"/>
            </a:endParaRPr>
          </a:p>
        </p:txBody>
      </p:sp>
      <p:sp>
        <p:nvSpPr>
          <p:cNvPr id="6" name="Text 2">
            <a:extLst>
              <a:ext uri="{FF2B5EF4-FFF2-40B4-BE49-F238E27FC236}">
                <a16:creationId xmlns:a16="http://schemas.microsoft.com/office/drawing/2014/main" id="{C8C62747-B83F-72DA-5500-D05FE8303B90}"/>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9" name="文本框 18">
            <a:extLst>
              <a:ext uri="{FF2B5EF4-FFF2-40B4-BE49-F238E27FC236}">
                <a16:creationId xmlns:a16="http://schemas.microsoft.com/office/drawing/2014/main" id="{3CBA5430-0A3F-12E4-AA75-6EA9C9BF4067}"/>
              </a:ext>
            </a:extLst>
          </p:cNvPr>
          <p:cNvSpPr txBox="1"/>
          <p:nvPr/>
        </p:nvSpPr>
        <p:spPr>
          <a:xfrm>
            <a:off x="441648" y="1396870"/>
            <a:ext cx="6892213" cy="523220"/>
          </a:xfrm>
          <a:prstGeom prst="rect">
            <a:avLst/>
          </a:prstGeom>
          <a:noFill/>
        </p:spPr>
        <p:txBody>
          <a:bodyPr wrap="square" rtlCol="0">
            <a:spAutoFit/>
          </a:bodyPr>
          <a:lstStyle/>
          <a:p>
            <a:r>
              <a:rPr lang="zh-CN" altLang="en-US" sz="1400" b="1" dirty="0">
                <a:solidFill>
                  <a:srgbClr val="333333"/>
                </a:solidFill>
                <a:latin typeface="Microsoft YaHei" pitchFamily="34" charset="0"/>
                <a:ea typeface="Microsoft YaHei" pitchFamily="34" charset="-122"/>
              </a:rPr>
              <a:t>采用</a:t>
            </a:r>
            <a:r>
              <a:rPr lang="en-US" altLang="zh-CN" sz="1400" b="1" dirty="0">
                <a:solidFill>
                  <a:srgbClr val="333333"/>
                </a:solidFill>
                <a:latin typeface="Microsoft YaHei" pitchFamily="34" charset="0"/>
                <a:ea typeface="Microsoft YaHei" pitchFamily="34" charset="-122"/>
              </a:rPr>
              <a:t>Spring Boot 3.5.7</a:t>
            </a:r>
            <a:r>
              <a:rPr lang="zh-CN" altLang="en-US" sz="1400" b="1" dirty="0">
                <a:solidFill>
                  <a:srgbClr val="333333"/>
                </a:solidFill>
                <a:latin typeface="Microsoft YaHei" pitchFamily="34" charset="0"/>
                <a:ea typeface="Microsoft YaHei" pitchFamily="34" charset="-122"/>
              </a:rPr>
              <a:t>框架，构建工具：</a:t>
            </a:r>
            <a:r>
              <a:rPr lang="en-US" altLang="zh-CN" sz="1400" b="1" dirty="0">
                <a:solidFill>
                  <a:srgbClr val="333333"/>
                </a:solidFill>
                <a:latin typeface="Microsoft YaHei" pitchFamily="34" charset="0"/>
                <a:ea typeface="Microsoft YaHei" pitchFamily="34" charset="-122"/>
              </a:rPr>
              <a:t>Maven 3.9.11</a:t>
            </a:r>
            <a:r>
              <a:rPr lang="zh-CN" altLang="en-US" sz="1400" b="1" dirty="0">
                <a:solidFill>
                  <a:srgbClr val="333333"/>
                </a:solidFill>
                <a:latin typeface="Microsoft YaHei" pitchFamily="34" charset="0"/>
                <a:ea typeface="Microsoft YaHei" pitchFamily="34" charset="-122"/>
              </a:rPr>
              <a:t>，数据库：</a:t>
            </a:r>
            <a:r>
              <a:rPr lang="en-US" altLang="zh-CN" sz="1400" b="1" dirty="0">
                <a:solidFill>
                  <a:srgbClr val="333333"/>
                </a:solidFill>
                <a:latin typeface="Microsoft YaHei" pitchFamily="34" charset="0"/>
                <a:ea typeface="Microsoft YaHei" pitchFamily="34" charset="-122"/>
              </a:rPr>
              <a:t>MySQL</a:t>
            </a:r>
            <a:r>
              <a:rPr lang="zh-CN" altLang="en-US" sz="1400" b="1" dirty="0">
                <a:solidFill>
                  <a:srgbClr val="333333"/>
                </a:solidFill>
                <a:latin typeface="Microsoft YaHei" pitchFamily="34" charset="0"/>
                <a:ea typeface="Microsoft YaHei" pitchFamily="34" charset="-122"/>
              </a:rPr>
              <a:t>（搭配 </a:t>
            </a:r>
            <a:r>
              <a:rPr lang="en-US" altLang="zh-CN" sz="1400" b="1" dirty="0" err="1">
                <a:solidFill>
                  <a:srgbClr val="333333"/>
                </a:solidFill>
                <a:latin typeface="Microsoft YaHei" pitchFamily="34" charset="0"/>
                <a:ea typeface="Microsoft YaHei" pitchFamily="34" charset="-122"/>
              </a:rPr>
              <a:t>MyBatis</a:t>
            </a:r>
            <a:r>
              <a:rPr lang="en-US" altLang="zh-CN" sz="1400" b="1" dirty="0">
                <a:solidFill>
                  <a:srgbClr val="333333"/>
                </a:solidFill>
                <a:latin typeface="Microsoft YaHei" pitchFamily="34" charset="0"/>
                <a:ea typeface="Microsoft YaHei" pitchFamily="34" charset="-122"/>
              </a:rPr>
              <a:t>-Plus ORM </a:t>
            </a:r>
            <a:r>
              <a:rPr lang="zh-CN" altLang="en-US" sz="1400" b="1" dirty="0">
                <a:solidFill>
                  <a:srgbClr val="333333"/>
                </a:solidFill>
                <a:latin typeface="Microsoft YaHei" pitchFamily="34" charset="0"/>
                <a:ea typeface="Microsoft YaHei" pitchFamily="34" charset="-122"/>
              </a:rPr>
              <a:t>框架）缓存：</a:t>
            </a:r>
            <a:r>
              <a:rPr lang="en-US" altLang="zh-CN" sz="1400" b="1" dirty="0">
                <a:solidFill>
                  <a:srgbClr val="333333"/>
                </a:solidFill>
                <a:latin typeface="Microsoft YaHei" pitchFamily="34" charset="0"/>
                <a:ea typeface="Microsoft YaHei" pitchFamily="34" charset="-122"/>
              </a:rPr>
              <a:t>Redis</a:t>
            </a:r>
          </a:p>
        </p:txBody>
      </p:sp>
      <p:sp>
        <p:nvSpPr>
          <p:cNvPr id="7" name="文本框 6">
            <a:extLst>
              <a:ext uri="{FF2B5EF4-FFF2-40B4-BE49-F238E27FC236}">
                <a16:creationId xmlns:a16="http://schemas.microsoft.com/office/drawing/2014/main" id="{ABFCD5AF-3624-8894-7ACD-E318048F568D}"/>
              </a:ext>
            </a:extLst>
          </p:cNvPr>
          <p:cNvSpPr txBox="1"/>
          <p:nvPr/>
        </p:nvSpPr>
        <p:spPr>
          <a:xfrm>
            <a:off x="441648" y="2034957"/>
            <a:ext cx="6295054" cy="3170099"/>
          </a:xfrm>
          <a:prstGeom prst="rect">
            <a:avLst/>
          </a:prstGeom>
          <a:noFill/>
        </p:spPr>
        <p:txBody>
          <a:bodyPr wrap="square" rtlCol="0">
            <a:spAutoFit/>
          </a:bodyPr>
          <a:lstStyle/>
          <a:p>
            <a:r>
              <a:rPr lang="zh-CN" altLang="en-US" sz="1400" b="1" dirty="0">
                <a:solidFill>
                  <a:schemeClr val="accent1"/>
                </a:solidFill>
                <a:latin typeface="微软雅黑" panose="020B0503020204020204" pitchFamily="34" charset="-122"/>
                <a:ea typeface="微软雅黑" panose="020B0503020204020204" pitchFamily="34" charset="-122"/>
              </a:rPr>
              <a:t>控制层：提供 </a:t>
            </a:r>
            <a:r>
              <a:rPr lang="en-US" altLang="zh-CN" sz="1400" b="1" dirty="0">
                <a:solidFill>
                  <a:schemeClr val="accent1"/>
                </a:solidFill>
                <a:latin typeface="微软雅黑" panose="020B0503020204020204" pitchFamily="34" charset="-122"/>
                <a:ea typeface="微软雅黑" panose="020B0503020204020204" pitchFamily="34" charset="-122"/>
              </a:rPr>
              <a:t>REST </a:t>
            </a:r>
            <a:r>
              <a:rPr lang="zh-CN" altLang="en-US" sz="1400" b="1" dirty="0">
                <a:solidFill>
                  <a:schemeClr val="accent1"/>
                </a:solidFill>
                <a:latin typeface="微软雅黑" panose="020B0503020204020204" pitchFamily="34" charset="-122"/>
                <a:ea typeface="微软雅黑" panose="020B0503020204020204" pitchFamily="34" charset="-122"/>
              </a:rPr>
              <a:t>接口</a:t>
            </a:r>
          </a:p>
          <a:p>
            <a:pPr lvl="1">
              <a:spcAft>
                <a:spcPts val="600"/>
              </a:spcAft>
            </a:pPr>
            <a:r>
              <a:rPr lang="en-US" altLang="zh-CN" sz="1200" dirty="0" err="1">
                <a:latin typeface="微软雅黑" panose="020B0503020204020204" pitchFamily="34" charset="-122"/>
                <a:ea typeface="微软雅黑" panose="020B0503020204020204" pitchFamily="34" charset="-122"/>
              </a:rPr>
              <a:t>NoteController</a:t>
            </a:r>
            <a:r>
              <a:rPr lang="zh-CN" altLang="en-US" sz="1200" dirty="0">
                <a:latin typeface="微软雅黑" panose="020B0503020204020204" pitchFamily="34" charset="-122"/>
                <a:ea typeface="微软雅黑" panose="020B0503020204020204" pitchFamily="34" charset="-122"/>
              </a:rPr>
              <a:t>：对应路径 </a:t>
            </a:r>
            <a:r>
              <a:rPr lang="en-US" altLang="zh-CN" sz="1200" dirty="0">
                <a:latin typeface="微软雅黑" panose="020B0503020204020204" pitchFamily="34" charset="-122"/>
                <a:ea typeface="微软雅黑" panose="020B0503020204020204" pitchFamily="34" charset="-122"/>
              </a:rPr>
              <a:t>/note</a:t>
            </a:r>
            <a:r>
              <a:rPr lang="zh-CN" altLang="en-US" sz="1200" dirty="0">
                <a:latin typeface="微软雅黑" panose="020B0503020204020204" pitchFamily="34" charset="-122"/>
                <a:ea typeface="微软雅黑" panose="020B0503020204020204" pitchFamily="34" charset="-122"/>
              </a:rPr>
              <a:t>，负责笔记的增删改查操作</a:t>
            </a:r>
          </a:p>
          <a:p>
            <a:r>
              <a:rPr lang="zh-CN" altLang="en-US" sz="1400" b="1" dirty="0">
                <a:solidFill>
                  <a:schemeClr val="accent1"/>
                </a:solidFill>
                <a:latin typeface="微软雅黑" panose="020B0503020204020204" pitchFamily="34" charset="-122"/>
                <a:ea typeface="微软雅黑" panose="020B0503020204020204" pitchFamily="34" charset="-122"/>
              </a:rPr>
              <a:t>服务层：处理业务逻辑</a:t>
            </a:r>
          </a:p>
          <a:p>
            <a:pPr lvl="1"/>
            <a:r>
              <a:rPr lang="en-US" altLang="zh-CN" sz="1200" dirty="0" err="1">
                <a:latin typeface="微软雅黑" panose="020B0503020204020204" pitchFamily="34" charset="-122"/>
                <a:ea typeface="微软雅黑" panose="020B0503020204020204" pitchFamily="34" charset="-122"/>
              </a:rPr>
              <a:t>NoteService</a:t>
            </a:r>
            <a:r>
              <a:rPr lang="zh-CN" altLang="en-US" sz="1200" dirty="0">
                <a:latin typeface="微软雅黑" panose="020B0503020204020204" pitchFamily="34" charset="-122"/>
                <a:ea typeface="微软雅黑" panose="020B0503020204020204" pitchFamily="34" charset="-122"/>
              </a:rPr>
              <a:t>：负责笔记管理</a:t>
            </a:r>
          </a:p>
          <a:p>
            <a:pPr lvl="1">
              <a:spcAft>
                <a:spcPts val="600"/>
              </a:spcAft>
            </a:pPr>
            <a:r>
              <a:rPr lang="en-US" altLang="zh-CN" sz="1200" dirty="0" err="1">
                <a:latin typeface="微软雅黑" panose="020B0503020204020204" pitchFamily="34" charset="-122"/>
                <a:ea typeface="微软雅黑" panose="020B0503020204020204" pitchFamily="34" charset="-122"/>
              </a:rPr>
              <a:t>AiService</a:t>
            </a:r>
            <a:r>
              <a:rPr lang="zh-CN" altLang="en-US" sz="1200" dirty="0">
                <a:latin typeface="微软雅黑" panose="020B0503020204020204" pitchFamily="34" charset="-122"/>
                <a:ea typeface="微软雅黑" panose="020B0503020204020204" pitchFamily="34" charset="-122"/>
              </a:rPr>
              <a:t>：负责 </a:t>
            </a:r>
            <a:r>
              <a:rPr lang="en-US" altLang="zh-CN" sz="1200" dirty="0">
                <a:latin typeface="微软雅黑" panose="020B0503020204020204" pitchFamily="34" charset="-122"/>
                <a:ea typeface="微软雅黑" panose="020B0503020204020204" pitchFamily="34" charset="-122"/>
              </a:rPr>
              <a:t>AI </a:t>
            </a:r>
            <a:r>
              <a:rPr lang="zh-CN" altLang="en-US" sz="1200" dirty="0">
                <a:latin typeface="微软雅黑" panose="020B0503020204020204" pitchFamily="34" charset="-122"/>
                <a:ea typeface="微软雅黑" panose="020B0503020204020204" pitchFamily="34" charset="-122"/>
              </a:rPr>
              <a:t>任务处理（异步执行）</a:t>
            </a:r>
          </a:p>
          <a:p>
            <a:r>
              <a:rPr lang="zh-CN" altLang="en-US" sz="1400" b="1" dirty="0">
                <a:solidFill>
                  <a:schemeClr val="accent1"/>
                </a:solidFill>
                <a:latin typeface="微软雅黑" panose="020B0503020204020204" pitchFamily="34" charset="-122"/>
                <a:ea typeface="微软雅黑" panose="020B0503020204020204" pitchFamily="34" charset="-122"/>
              </a:rPr>
              <a:t>数据访问层：处理数据访问</a:t>
            </a:r>
          </a:p>
          <a:p>
            <a:pPr lvl="1"/>
            <a:r>
              <a:rPr lang="zh-CN" altLang="en-US" sz="1200" dirty="0">
                <a:latin typeface="微软雅黑" panose="020B0503020204020204" pitchFamily="34" charset="-122"/>
                <a:ea typeface="微软雅黑" panose="020B0503020204020204" pitchFamily="34" charset="-122"/>
              </a:rPr>
              <a:t>为每个实体类扩展 </a:t>
            </a:r>
            <a:r>
              <a:rPr lang="en-US" altLang="zh-CN" sz="1200" dirty="0" err="1">
                <a:latin typeface="微软雅黑" panose="020B0503020204020204" pitchFamily="34" charset="-122"/>
                <a:ea typeface="微软雅黑" panose="020B0503020204020204" pitchFamily="34" charset="-122"/>
              </a:rPr>
              <a:t>MyBatis</a:t>
            </a:r>
            <a:r>
              <a:rPr lang="en-US" altLang="zh-CN" sz="1200" dirty="0">
                <a:latin typeface="微软雅黑" panose="020B0503020204020204" pitchFamily="34" charset="-122"/>
                <a:ea typeface="微软雅黑" panose="020B0503020204020204" pitchFamily="34" charset="-122"/>
              </a:rPr>
              <a:t>-Plus </a:t>
            </a:r>
            <a:r>
              <a:rPr lang="zh-CN" altLang="en-US" sz="1200" dirty="0">
                <a:latin typeface="微软雅黑" panose="020B0503020204020204" pitchFamily="34" charset="-122"/>
                <a:ea typeface="微软雅黑" panose="020B0503020204020204" pitchFamily="34" charset="-122"/>
              </a:rPr>
              <a:t>的 </a:t>
            </a:r>
            <a:r>
              <a:rPr lang="en-US" altLang="zh-CN" sz="1200" dirty="0" err="1">
                <a:latin typeface="微软雅黑" panose="020B0503020204020204" pitchFamily="34" charset="-122"/>
                <a:ea typeface="微软雅黑" panose="020B0503020204020204" pitchFamily="34" charset="-122"/>
              </a:rPr>
              <a:t>BaseMapper</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接口</a:t>
            </a:r>
          </a:p>
          <a:p>
            <a:pPr lvl="1">
              <a:spcAft>
                <a:spcPts val="600"/>
              </a:spcAft>
            </a:pPr>
            <a:r>
              <a:rPr lang="zh-CN" altLang="en-US" sz="1200" dirty="0">
                <a:latin typeface="微软雅黑" panose="020B0503020204020204" pitchFamily="34" charset="-122"/>
                <a:ea typeface="微软雅黑" panose="020B0503020204020204" pitchFamily="34" charset="-122"/>
              </a:rPr>
              <a:t>无需自定义 </a:t>
            </a:r>
            <a:r>
              <a:rPr lang="en-US" altLang="zh-CN" sz="1200" dirty="0">
                <a:latin typeface="微软雅黑" panose="020B0503020204020204" pitchFamily="34" charset="-122"/>
                <a:ea typeface="微软雅黑" panose="020B0503020204020204" pitchFamily="34" charset="-122"/>
              </a:rPr>
              <a:t>XML </a:t>
            </a:r>
            <a:r>
              <a:rPr lang="zh-CN" altLang="en-US" sz="1200" dirty="0">
                <a:latin typeface="微软雅黑" panose="020B0503020204020204" pitchFamily="34" charset="-122"/>
                <a:ea typeface="微软雅黑" panose="020B0503020204020204" pitchFamily="34" charset="-122"/>
              </a:rPr>
              <a:t>映射文件，直接使用 </a:t>
            </a:r>
            <a:r>
              <a:rPr lang="en-US" altLang="zh-CN" sz="1200" dirty="0" err="1">
                <a:latin typeface="微软雅黑" panose="020B0503020204020204" pitchFamily="34" charset="-122"/>
                <a:ea typeface="微软雅黑" panose="020B0503020204020204" pitchFamily="34" charset="-122"/>
              </a:rPr>
              <a:t>MyBatis</a:t>
            </a:r>
            <a:r>
              <a:rPr lang="en-US" altLang="zh-CN" sz="1200" dirty="0">
                <a:latin typeface="微软雅黑" panose="020B0503020204020204" pitchFamily="34" charset="-122"/>
                <a:ea typeface="微软雅黑" panose="020B0503020204020204" pitchFamily="34" charset="-122"/>
              </a:rPr>
              <a:t>-Plus </a:t>
            </a:r>
            <a:r>
              <a:rPr lang="zh-CN" altLang="en-US" sz="1200" dirty="0">
                <a:latin typeface="微软雅黑" panose="020B0503020204020204" pitchFamily="34" charset="-122"/>
                <a:ea typeface="微软雅黑" panose="020B0503020204020204" pitchFamily="34" charset="-122"/>
              </a:rPr>
              <a:t>功能</a:t>
            </a:r>
          </a:p>
          <a:p>
            <a:r>
              <a:rPr lang="zh-CN" altLang="en-US" sz="1400" b="1" dirty="0">
                <a:solidFill>
                  <a:schemeClr val="accent1"/>
                </a:solidFill>
                <a:latin typeface="微软雅黑" panose="020B0503020204020204" pitchFamily="34" charset="-122"/>
                <a:ea typeface="微软雅黑" panose="020B0503020204020204" pitchFamily="34" charset="-122"/>
              </a:rPr>
              <a:t>实体层：定义领域模型</a:t>
            </a:r>
          </a:p>
          <a:p>
            <a:pPr lvl="1">
              <a:spcAft>
                <a:spcPts val="600"/>
              </a:spcAft>
            </a:pPr>
            <a:r>
              <a:rPr lang="zh-CN" altLang="en-US" sz="1200" dirty="0">
                <a:latin typeface="微软雅黑" panose="020B0503020204020204" pitchFamily="34" charset="-122"/>
                <a:ea typeface="微软雅黑" panose="020B0503020204020204" pitchFamily="34" charset="-122"/>
              </a:rPr>
              <a:t>包含 </a:t>
            </a:r>
            <a:r>
              <a:rPr lang="en-US" altLang="zh-CN" sz="1200" dirty="0">
                <a:latin typeface="微软雅黑" panose="020B0503020204020204" pitchFamily="34" charset="-122"/>
                <a:ea typeface="微软雅黑" panose="020B0503020204020204" pitchFamily="34" charset="-122"/>
              </a:rPr>
              <a:t>User</a:t>
            </a:r>
            <a:r>
              <a:rPr lang="zh-CN" altLang="en-US" sz="1200" dirty="0">
                <a:latin typeface="微软雅黑" panose="020B0503020204020204" pitchFamily="34" charset="-122"/>
                <a:ea typeface="微软雅黑" panose="020B0503020204020204" pitchFamily="34" charset="-122"/>
              </a:rPr>
              <a:t>（用户）、</a:t>
            </a:r>
            <a:r>
              <a:rPr lang="en-US" altLang="zh-CN" sz="1200" dirty="0">
                <a:latin typeface="微软雅黑" panose="020B0503020204020204" pitchFamily="34" charset="-122"/>
                <a:ea typeface="微软雅黑" panose="020B0503020204020204" pitchFamily="34" charset="-122"/>
              </a:rPr>
              <a:t>Note</a:t>
            </a:r>
            <a:r>
              <a:rPr lang="zh-CN" altLang="en-US" sz="1200" dirty="0">
                <a:latin typeface="微软雅黑" panose="020B0503020204020204" pitchFamily="34" charset="-122"/>
                <a:ea typeface="微软雅黑" panose="020B0503020204020204" pitchFamily="34" charset="-122"/>
              </a:rPr>
              <a:t>（笔记）、</a:t>
            </a:r>
            <a:r>
              <a:rPr lang="en-US" altLang="zh-CN" sz="1200" dirty="0" err="1">
                <a:latin typeface="微软雅黑" panose="020B0503020204020204" pitchFamily="34" charset="-122"/>
                <a:ea typeface="微软雅黑" panose="020B0503020204020204" pitchFamily="34" charset="-122"/>
              </a:rPr>
              <a:t>AiTask</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AI </a:t>
            </a:r>
            <a:r>
              <a:rPr lang="zh-CN" altLang="en-US" sz="1200" dirty="0">
                <a:latin typeface="微软雅黑" panose="020B0503020204020204" pitchFamily="34" charset="-122"/>
                <a:ea typeface="微软雅黑" panose="020B0503020204020204" pitchFamily="34" charset="-122"/>
              </a:rPr>
              <a:t>任务）、</a:t>
            </a:r>
            <a:r>
              <a:rPr lang="en-US" altLang="zh-CN" sz="1200" dirty="0">
                <a:latin typeface="微软雅黑" panose="020B0503020204020204" pitchFamily="34" charset="-122"/>
                <a:ea typeface="微软雅黑" panose="020B0503020204020204" pitchFamily="34" charset="-122"/>
              </a:rPr>
              <a:t>Role</a:t>
            </a:r>
            <a:r>
              <a:rPr lang="zh-CN" altLang="en-US" sz="1200" dirty="0">
                <a:latin typeface="微软雅黑" panose="020B0503020204020204" pitchFamily="34" charset="-122"/>
                <a:ea typeface="微软雅黑" panose="020B0503020204020204" pitchFamily="34" charset="-122"/>
              </a:rPr>
              <a:t>（角色）、</a:t>
            </a:r>
            <a:r>
              <a:rPr lang="en-US" altLang="zh-CN" sz="1200" dirty="0">
                <a:latin typeface="微软雅黑" panose="020B0503020204020204" pitchFamily="34" charset="-122"/>
                <a:ea typeface="微软雅黑" panose="020B0503020204020204" pitchFamily="34" charset="-122"/>
              </a:rPr>
              <a:t>Permission</a:t>
            </a:r>
            <a:r>
              <a:rPr lang="zh-CN" altLang="en-US" sz="1200" dirty="0">
                <a:latin typeface="微软雅黑" panose="020B0503020204020204" pitchFamily="34" charset="-122"/>
                <a:ea typeface="微软雅黑" panose="020B0503020204020204" pitchFamily="34" charset="-122"/>
              </a:rPr>
              <a:t>（权限）等模型</a:t>
            </a:r>
          </a:p>
          <a:p>
            <a:r>
              <a:rPr lang="zh-CN" altLang="en-US" sz="1400" b="1" dirty="0">
                <a:solidFill>
                  <a:schemeClr val="accent1"/>
                </a:solidFill>
                <a:latin typeface="微软雅黑" panose="020B0503020204020204" pitchFamily="34" charset="-122"/>
                <a:ea typeface="微软雅黑" panose="020B0503020204020204" pitchFamily="34" charset="-122"/>
              </a:rPr>
              <a:t>公共层：提供通用组件</a:t>
            </a:r>
          </a:p>
          <a:p>
            <a:pPr lvl="1"/>
            <a:r>
              <a:rPr lang="en-US" altLang="zh-CN" sz="1200" dirty="0">
                <a:latin typeface="微软雅黑" panose="020B0503020204020204" pitchFamily="34" charset="-122"/>
                <a:ea typeface="微软雅黑" panose="020B0503020204020204" pitchFamily="34" charset="-122"/>
              </a:rPr>
              <a:t>Result&lt;T&gt;</a:t>
            </a:r>
            <a:r>
              <a:rPr lang="zh-CN" altLang="en-US" sz="1200" dirty="0">
                <a:latin typeface="微软雅黑" panose="020B0503020204020204" pitchFamily="34" charset="-122"/>
                <a:ea typeface="微软雅黑" panose="020B0503020204020204" pitchFamily="34" charset="-122"/>
              </a:rPr>
              <a:t>：标准化的 </a:t>
            </a:r>
            <a:r>
              <a:rPr lang="en-US" altLang="zh-CN" sz="1200" dirty="0">
                <a:latin typeface="微软雅黑" panose="020B0503020204020204" pitchFamily="34" charset="-122"/>
                <a:ea typeface="微软雅黑" panose="020B0503020204020204" pitchFamily="34" charset="-122"/>
              </a:rPr>
              <a:t>API </a:t>
            </a:r>
            <a:r>
              <a:rPr lang="zh-CN" altLang="en-US" sz="1200" dirty="0">
                <a:latin typeface="微软雅黑" panose="020B0503020204020204" pitchFamily="34" charset="-122"/>
                <a:ea typeface="微软雅黑" panose="020B0503020204020204" pitchFamily="34" charset="-122"/>
              </a:rPr>
              <a:t>响应包装类</a:t>
            </a:r>
          </a:p>
          <a:p>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9469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pic>
        <p:nvPicPr>
          <p:cNvPr id="4" name="Image 1" descr="preencoded.png"/>
          <p:cNvPicPr>
            <a:picLocks noChangeAspect="1"/>
          </p:cNvPicPr>
          <p:nvPr/>
        </p:nvPicPr>
        <p:blipFill>
          <a:blip r:embed="rId4"/>
          <a:srcRect t="5208" b="5208"/>
          <a:stretch/>
        </p:blipFill>
        <p:spPr>
          <a:xfrm>
            <a:off x="0" y="0"/>
            <a:ext cx="9144000" cy="1638300"/>
          </a:xfrm>
          <a:prstGeom prst="rect">
            <a:avLst/>
          </a:prstGeom>
        </p:spPr>
      </p:pic>
      <p:sp>
        <p:nvSpPr>
          <p:cNvPr id="5" name="Text 1"/>
          <p:cNvSpPr/>
          <p:nvPr/>
        </p:nvSpPr>
        <p:spPr>
          <a:xfrm>
            <a:off x="571500" y="471418"/>
            <a:ext cx="8001000" cy="800100"/>
          </a:xfrm>
          <a:prstGeom prst="rect">
            <a:avLst/>
          </a:prstGeom>
          <a:noFill/>
          <a:ln/>
        </p:spPr>
        <p:txBody>
          <a:bodyPr vert="horz" wrap="square" lIns="0" tIns="0" rIns="0" bIns="0" rtlCol="0" anchor="ctr"/>
          <a:lstStyle/>
          <a:p>
            <a:pPr>
              <a:lnSpc>
                <a:spcPts val="3150"/>
              </a:lnSpc>
            </a:pPr>
            <a:r>
              <a:rPr lang="zh-CN" altLang="en-US" sz="2250" b="1" dirty="0">
                <a:solidFill>
                  <a:srgbClr val="FFFFFF"/>
                </a:solidFill>
                <a:latin typeface="Microsoft YaHei" pitchFamily="34" charset="0"/>
                <a:ea typeface="Microsoft YaHei" pitchFamily="34" charset="-122"/>
              </a:rPr>
              <a:t>项目测试工作安排</a:t>
            </a:r>
            <a:endParaRPr lang="en-US" sz="2250" dirty="0"/>
          </a:p>
        </p:txBody>
      </p:sp>
      <p:sp>
        <p:nvSpPr>
          <p:cNvPr id="6"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3" name="文本框 12">
            <a:extLst>
              <a:ext uri="{FF2B5EF4-FFF2-40B4-BE49-F238E27FC236}">
                <a16:creationId xmlns:a16="http://schemas.microsoft.com/office/drawing/2014/main" id="{D4334051-D7E5-7A7A-594D-227C345A52FE}"/>
              </a:ext>
            </a:extLst>
          </p:cNvPr>
          <p:cNvSpPr txBox="1"/>
          <p:nvPr/>
        </p:nvSpPr>
        <p:spPr>
          <a:xfrm>
            <a:off x="571499" y="1791478"/>
            <a:ext cx="7092043"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测试工作遵循 “分阶段递进、全流程覆盖” 原则，分为</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个核心阶段：</a:t>
            </a:r>
            <a:endParaRPr lang="en-US" altLang="zh-CN" sz="16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BC1EDD2-CC82-DA2C-794A-349A68789312}"/>
              </a:ext>
            </a:extLst>
          </p:cNvPr>
          <p:cNvSpPr txBox="1"/>
          <p:nvPr/>
        </p:nvSpPr>
        <p:spPr>
          <a:xfrm>
            <a:off x="571500" y="2255380"/>
            <a:ext cx="6525208" cy="2954655"/>
          </a:xfrm>
          <a:prstGeom prst="rect">
            <a:avLst/>
          </a:prstGeom>
          <a:noFill/>
        </p:spPr>
        <p:txBody>
          <a:bodyPr wrap="square" rtlCol="0">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1.</a:t>
            </a: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单元测试阶段（开发迭代中，与开发同步）</a:t>
            </a:r>
            <a:r>
              <a:rPr lang="zh-CN" altLang="en-US" sz="1600" dirty="0">
                <a:latin typeface="微软雅黑" panose="020B0503020204020204" pitchFamily="34" charset="-122"/>
                <a:ea typeface="微软雅黑" panose="020B0503020204020204" pitchFamily="34" charset="-122"/>
              </a:rPr>
              <a:t>：验证单个模块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接口的正确性，提前发现代码级问题；开发完成单个模块后，</a:t>
            </a:r>
            <a:r>
              <a:rPr lang="en-US" altLang="zh-CN" sz="1600" dirty="0">
                <a:latin typeface="微软雅黑" panose="020B0503020204020204" pitchFamily="34" charset="-122"/>
                <a:ea typeface="微软雅黑" panose="020B0503020204020204" pitchFamily="34" charset="-122"/>
              </a:rPr>
              <a:t>24 </a:t>
            </a:r>
            <a:r>
              <a:rPr lang="zh-CN" altLang="en-US" sz="1600" dirty="0">
                <a:latin typeface="微软雅黑" panose="020B0503020204020204" pitchFamily="34" charset="-122"/>
                <a:ea typeface="微软雅黑" panose="020B0503020204020204" pitchFamily="34" charset="-122"/>
              </a:rPr>
              <a:t>小时内完成对应单元测试；迭代周期结束前完成全量单元测试回归。</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2.</a:t>
            </a: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集成测试阶段（前后端开发完成后）</a:t>
            </a:r>
            <a:r>
              <a:rPr lang="zh-CN" altLang="en-US" sz="1600" dirty="0">
                <a:latin typeface="微软雅黑" panose="020B0503020204020204" pitchFamily="34" charset="-122"/>
                <a:ea typeface="微软雅黑" panose="020B0503020204020204" pitchFamily="34" charset="-122"/>
              </a:rPr>
              <a:t>：验证前后端交互、后端与数据库交互的正确性，确保模块间互联互通</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3.</a:t>
            </a: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部署测试阶段（打包完成后，正式交付前 </a:t>
            </a:r>
            <a:r>
              <a:rPr lang="en-US" altLang="zh-CN" sz="1600" dirty="0">
                <a:solidFill>
                  <a:schemeClr val="accent1">
                    <a:lumMod val="75000"/>
                  </a:schemeClr>
                </a:solidFill>
                <a:latin typeface="微软雅黑" panose="020B0503020204020204" pitchFamily="34" charset="-122"/>
                <a:ea typeface="微软雅黑" panose="020B0503020204020204" pitchFamily="34" charset="-122"/>
              </a:rPr>
              <a:t>3 </a:t>
            </a: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天）</a:t>
            </a:r>
            <a:r>
              <a:rPr lang="zh-CN" altLang="en-US" sz="1600" dirty="0">
                <a:latin typeface="微软雅黑" panose="020B0503020204020204" pitchFamily="34" charset="-122"/>
                <a:ea typeface="微软雅黑" panose="020B0503020204020204" pitchFamily="34" charset="-122"/>
              </a:rPr>
              <a:t>：验证 </a:t>
            </a:r>
            <a:r>
              <a:rPr lang="en-US" altLang="zh-CN" sz="1600" dirty="0">
                <a:latin typeface="微软雅黑" panose="020B0503020204020204" pitchFamily="34" charset="-122"/>
                <a:ea typeface="微软雅黑" panose="020B0503020204020204" pitchFamily="34" charset="-122"/>
              </a:rPr>
              <a:t>Windows </a:t>
            </a:r>
            <a:r>
              <a:rPr lang="zh-CN" altLang="en-US" sz="1600" dirty="0">
                <a:latin typeface="微软雅黑" panose="020B0503020204020204" pitchFamily="34" charset="-122"/>
                <a:ea typeface="微软雅黑" panose="020B0503020204020204" pitchFamily="34" charset="-122"/>
              </a:rPr>
              <a:t>环境下部署流程的可行性、安装包的完整性、服务启动的稳定性</a:t>
            </a:r>
            <a:endParaRPr lang="en-US" altLang="zh-CN" sz="16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0C31-2ED1-F9A8-DD51-6D18750A52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8762AC-4A61-8319-BE8B-F6DE7CF1D8F6}"/>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B50F6D7F-F8FE-FDC6-F122-A2749310E03F}"/>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413535BF-5017-1A53-C4B4-5923489F4353}"/>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A5D58796-5A7B-EEA5-2B83-526467DE5055}"/>
              </a:ext>
            </a:extLst>
          </p:cNvPr>
          <p:cNvSpPr/>
          <p:nvPr/>
        </p:nvSpPr>
        <p:spPr>
          <a:xfrm>
            <a:off x="571500" y="471418"/>
            <a:ext cx="8001000" cy="800100"/>
          </a:xfrm>
          <a:prstGeom prst="rect">
            <a:avLst/>
          </a:prstGeom>
          <a:noFill/>
          <a:ln/>
        </p:spPr>
        <p:txBody>
          <a:bodyPr vert="horz" wrap="square" lIns="0" tIns="0" rIns="0" bIns="0" rtlCol="0" anchor="ctr"/>
          <a:lstStyle/>
          <a:p>
            <a:pPr>
              <a:lnSpc>
                <a:spcPts val="3150"/>
              </a:lnSpc>
            </a:pPr>
            <a:r>
              <a:rPr lang="zh-CN" altLang="en-US" sz="2250" b="1" dirty="0">
                <a:solidFill>
                  <a:srgbClr val="FFFFFF"/>
                </a:solidFill>
                <a:latin typeface="Microsoft YaHei" pitchFamily="34" charset="0"/>
                <a:ea typeface="Microsoft YaHei" pitchFamily="34" charset="-122"/>
              </a:rPr>
              <a:t>测试工具选择与运用</a:t>
            </a:r>
            <a:endParaRPr lang="en-US" sz="2250" b="1" dirty="0">
              <a:solidFill>
                <a:srgbClr val="FFFFFF"/>
              </a:solidFill>
              <a:latin typeface="Microsoft YaHei" pitchFamily="34" charset="0"/>
              <a:ea typeface="Microsoft YaHei" pitchFamily="34" charset="-122"/>
            </a:endParaRPr>
          </a:p>
        </p:txBody>
      </p:sp>
      <p:sp>
        <p:nvSpPr>
          <p:cNvPr id="6" name="Text 2">
            <a:extLst>
              <a:ext uri="{FF2B5EF4-FFF2-40B4-BE49-F238E27FC236}">
                <a16:creationId xmlns:a16="http://schemas.microsoft.com/office/drawing/2014/main" id="{78595FFC-0C0F-1FC5-1782-94E61CC013A4}"/>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3" name="文本框 12">
            <a:extLst>
              <a:ext uri="{FF2B5EF4-FFF2-40B4-BE49-F238E27FC236}">
                <a16:creationId xmlns:a16="http://schemas.microsoft.com/office/drawing/2014/main" id="{213F85FF-BB63-F615-D7DE-6096843046BF}"/>
              </a:ext>
            </a:extLst>
          </p:cNvPr>
          <p:cNvSpPr txBox="1"/>
          <p:nvPr/>
        </p:nvSpPr>
        <p:spPr>
          <a:xfrm>
            <a:off x="571499" y="1791478"/>
            <a:ext cx="730975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结合项目技术栈和 </a:t>
            </a:r>
            <a:r>
              <a:rPr lang="en-US" altLang="zh-CN" sz="1400" dirty="0">
                <a:latin typeface="微软雅黑" panose="020B0503020204020204" pitchFamily="34" charset="-122"/>
                <a:ea typeface="微软雅黑" panose="020B0503020204020204" pitchFamily="34" charset="-122"/>
              </a:rPr>
              <a:t>Windows </a:t>
            </a:r>
            <a:r>
              <a:rPr lang="zh-CN" altLang="en-US" sz="1400" dirty="0">
                <a:latin typeface="微软雅黑" panose="020B0503020204020204" pitchFamily="34" charset="-122"/>
                <a:ea typeface="微软雅黑" panose="020B0503020204020204" pitchFamily="34" charset="-122"/>
              </a:rPr>
              <a:t>部署场景，选择 “轻量实用、适配性强” 的工具，具体如下：</a:t>
            </a:r>
            <a:endParaRPr lang="en-US" altLang="zh-CN" sz="1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8A1FAF8-0A32-DEDB-798C-71C2E7622A0C}"/>
              </a:ext>
            </a:extLst>
          </p:cNvPr>
          <p:cNvSpPr txBox="1"/>
          <p:nvPr/>
        </p:nvSpPr>
        <p:spPr>
          <a:xfrm>
            <a:off x="571499" y="2401078"/>
            <a:ext cx="5704114" cy="2147126"/>
          </a:xfrm>
          <a:prstGeom prst="rect">
            <a:avLst/>
          </a:prstGeom>
          <a:noFill/>
        </p:spPr>
        <p:txBody>
          <a:bodyPr wrap="square" rtlCol="0">
            <a:spAutoFit/>
          </a:bodyPr>
          <a:lstStyle/>
          <a:p>
            <a:pPr>
              <a:lnSpc>
                <a:spcPct val="150000"/>
              </a:lnSpc>
              <a:spcAft>
                <a:spcPts val="600"/>
              </a:spcAft>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单元测试工具：</a:t>
            </a:r>
            <a:r>
              <a:rPr lang="en-US" altLang="zh-CN" sz="1400" dirty="0">
                <a:latin typeface="微软雅黑" panose="020B0503020204020204" pitchFamily="34" charset="-122"/>
                <a:ea typeface="微软雅黑" panose="020B0503020204020204" pitchFamily="34" charset="-122"/>
              </a:rPr>
              <a:t>JUnit 5 + Mockito</a:t>
            </a:r>
            <a:r>
              <a:rPr lang="zh-CN" altLang="en-US" sz="1400" dirty="0">
                <a:latin typeface="微软雅黑" panose="020B0503020204020204" pitchFamily="34" charset="-122"/>
                <a:ea typeface="微软雅黑" panose="020B0503020204020204" pitchFamily="34" charset="-122"/>
              </a:rPr>
              <a:t>进行后端 </a:t>
            </a:r>
            <a:r>
              <a:rPr lang="en-US" altLang="zh-CN" sz="1400" dirty="0" err="1">
                <a:latin typeface="微软雅黑" panose="020B0503020204020204" pitchFamily="34" charset="-122"/>
                <a:ea typeface="微软雅黑" panose="020B0503020204020204" pitchFamily="34" charset="-122"/>
              </a:rPr>
              <a:t>SpringBoot</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单元测试；</a:t>
            </a:r>
            <a:r>
              <a:rPr lang="en-US" altLang="zh-CN" sz="1400" dirty="0" err="1">
                <a:latin typeface="微软雅黑" panose="020B0503020204020204" pitchFamily="34" charset="-122"/>
                <a:ea typeface="微软雅黑" panose="020B0503020204020204" pitchFamily="34" charset="-122"/>
              </a:rPr>
              <a:t>Vitest</a:t>
            </a:r>
            <a:r>
              <a:rPr lang="en-US" altLang="zh-CN" sz="1400" dirty="0">
                <a:latin typeface="微软雅黑" panose="020B0503020204020204" pitchFamily="34" charset="-122"/>
                <a:ea typeface="微软雅黑" panose="020B0503020204020204" pitchFamily="34" charset="-122"/>
              </a:rPr>
              <a:t> + Testing Library/Vue</a:t>
            </a:r>
            <a:r>
              <a:rPr lang="zh-CN" altLang="en-US" sz="1400" dirty="0">
                <a:latin typeface="微软雅黑" panose="020B0503020204020204" pitchFamily="34" charset="-122"/>
                <a:ea typeface="微软雅黑" panose="020B0503020204020204" pitchFamily="34" charset="-122"/>
              </a:rPr>
              <a:t>进行前端 </a:t>
            </a:r>
            <a:r>
              <a:rPr lang="en-US" altLang="zh-CN" sz="1400" dirty="0">
                <a:latin typeface="微软雅黑" panose="020B0503020204020204" pitchFamily="34" charset="-122"/>
                <a:ea typeface="微软雅黑" panose="020B0503020204020204" pitchFamily="34" charset="-122"/>
              </a:rPr>
              <a:t>Vue </a:t>
            </a:r>
            <a:r>
              <a:rPr lang="zh-CN" altLang="en-US" sz="1400" dirty="0">
                <a:latin typeface="微软雅黑" panose="020B0503020204020204" pitchFamily="34" charset="-122"/>
                <a:ea typeface="微软雅黑" panose="020B0503020204020204" pitchFamily="34" charset="-122"/>
              </a:rPr>
              <a:t>组件 </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工具函数单元测试</a:t>
            </a:r>
            <a:endParaRPr lang="en-US" altLang="zh-CN" sz="1400"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接口测试工具：</a:t>
            </a:r>
            <a:r>
              <a:rPr lang="en-US" altLang="zh-CN" sz="1400" dirty="0">
                <a:latin typeface="微软雅黑" panose="020B0503020204020204" pitchFamily="34" charset="-122"/>
                <a:ea typeface="微软雅黑" panose="020B0503020204020204" pitchFamily="34" charset="-122"/>
              </a:rPr>
              <a:t>Postman</a:t>
            </a:r>
            <a:r>
              <a:rPr lang="zh-CN" altLang="en-US" sz="1400" dirty="0">
                <a:latin typeface="微软雅黑" panose="020B0503020204020204" pitchFamily="34" charset="-122"/>
                <a:ea typeface="微软雅黑" panose="020B0503020204020204" pitchFamily="34" charset="-122"/>
              </a:rPr>
              <a:t>进行后端接口独立测试、接口文档管理；</a:t>
            </a:r>
            <a:r>
              <a:rPr lang="en-US" altLang="zh-CN" sz="1400" dirty="0">
                <a:latin typeface="微软雅黑" panose="020B0503020204020204" pitchFamily="34" charset="-122"/>
                <a:ea typeface="微软雅黑" panose="020B0503020204020204" pitchFamily="34" charset="-122"/>
              </a:rPr>
              <a:t>Axios Test Adapter</a:t>
            </a:r>
            <a:r>
              <a:rPr lang="zh-CN" altLang="en-US" sz="1400" dirty="0">
                <a:latin typeface="微软雅黑" panose="020B0503020204020204" pitchFamily="34" charset="-122"/>
                <a:ea typeface="微软雅黑" panose="020B0503020204020204" pitchFamily="34" charset="-122"/>
              </a:rPr>
              <a:t>进行前端接口联调测试</a:t>
            </a:r>
            <a:endParaRPr lang="en-US" altLang="zh-CN" sz="1400"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集成 </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功能测试工具：</a:t>
            </a:r>
            <a:r>
              <a:rPr lang="en-US" altLang="zh-CN" sz="1400" dirty="0">
                <a:latin typeface="微软雅黑" panose="020B0503020204020204" pitchFamily="34" charset="-122"/>
                <a:ea typeface="微软雅黑" panose="020B0503020204020204" pitchFamily="34" charset="-122"/>
              </a:rPr>
              <a:t>Cypress</a:t>
            </a:r>
            <a:r>
              <a:rPr lang="zh-CN" altLang="en-US" sz="1400" dirty="0">
                <a:latin typeface="微软雅黑" panose="020B0503020204020204" pitchFamily="34" charset="-122"/>
                <a:ea typeface="微软雅黑" panose="020B0503020204020204" pitchFamily="34" charset="-122"/>
              </a:rPr>
              <a:t>进行前端功能自动化测试、</a:t>
            </a:r>
            <a:r>
              <a:rPr lang="en-US" altLang="zh-CN" sz="1400" dirty="0">
                <a:latin typeface="微软雅黑" panose="020B0503020204020204" pitchFamily="34" charset="-122"/>
                <a:ea typeface="微软雅黑" panose="020B0503020204020204" pitchFamily="34" charset="-122"/>
              </a:rPr>
              <a:t>Electron </a:t>
            </a:r>
            <a:r>
              <a:rPr lang="zh-CN" altLang="en-US" sz="1400" dirty="0">
                <a:latin typeface="微软雅黑" panose="020B0503020204020204" pitchFamily="34" charset="-122"/>
                <a:ea typeface="微软雅黑" panose="020B0503020204020204" pitchFamily="34" charset="-122"/>
              </a:rPr>
              <a:t>应用测试；</a:t>
            </a:r>
            <a:r>
              <a:rPr lang="en-US" altLang="zh-CN" sz="1400" dirty="0" err="1">
                <a:latin typeface="微软雅黑" panose="020B0503020204020204" pitchFamily="34" charset="-122"/>
                <a:ea typeface="微软雅黑" panose="020B0503020204020204" pitchFamily="34" charset="-122"/>
              </a:rPr>
              <a:t>Navicat</a:t>
            </a:r>
            <a:r>
              <a:rPr lang="zh-CN" altLang="en-US" sz="1400" dirty="0">
                <a:latin typeface="微软雅黑" panose="020B0503020204020204" pitchFamily="34" charset="-122"/>
                <a:ea typeface="微软雅黑" panose="020B0503020204020204" pitchFamily="34" charset="-122"/>
              </a:rPr>
              <a:t>进行</a:t>
            </a:r>
            <a:r>
              <a:rPr lang="en-US" altLang="zh-CN" sz="1400" dirty="0">
                <a:latin typeface="微软雅黑" panose="020B0503020204020204" pitchFamily="34" charset="-122"/>
                <a:ea typeface="微软雅黑" panose="020B0503020204020204" pitchFamily="34" charset="-122"/>
              </a:rPr>
              <a:t>MySQL </a:t>
            </a:r>
            <a:r>
              <a:rPr lang="zh-CN" altLang="en-US" sz="1400" dirty="0">
                <a:latin typeface="微软雅黑" panose="020B0503020204020204" pitchFamily="34" charset="-122"/>
                <a:ea typeface="微软雅黑" panose="020B0503020204020204" pitchFamily="34" charset="-122"/>
              </a:rPr>
              <a:t>数据库测试</a:t>
            </a:r>
          </a:p>
        </p:txBody>
      </p:sp>
    </p:spTree>
    <p:extLst>
      <p:ext uri="{BB962C8B-B14F-4D97-AF65-F5344CB8AC3E}">
        <p14:creationId xmlns:p14="http://schemas.microsoft.com/office/powerpoint/2010/main" val="2309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956EC-7914-3D2F-0885-D14D89F8FC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ECC6F5-A060-462D-8C25-572ADF1D4FE1}"/>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6245F725-8DFF-921D-4D40-788433029181}"/>
              </a:ext>
            </a:extLst>
          </p:cNvPr>
          <p:cNvPicPr>
            <a:picLocks noChangeAspect="1"/>
          </p:cNvPicPr>
          <p:nvPr/>
        </p:nvPicPr>
        <p:blipFill>
          <a:blip r:embed="rId3"/>
          <a:src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1F1B7EC0-EB5E-638C-90AB-E6DA52DF7CE8}"/>
              </a:ext>
            </a:extLst>
          </p:cNvPr>
          <p:cNvPicPr>
            <a:picLocks noChangeAspect="1"/>
          </p:cNvPicPr>
          <p:nvPr/>
        </p:nvPicPr>
        <p:blipFill>
          <a:blip r:embed="rId4"/>
          <a:srcRect t="5208" b="5208"/>
          <a:stretch/>
        </p:blipFill>
        <p:spPr>
          <a:xfrm>
            <a:off x="0" y="0"/>
            <a:ext cx="9144000" cy="1638300"/>
          </a:xfrm>
          <a:prstGeom prst="rect">
            <a:avLst/>
          </a:prstGeom>
        </p:spPr>
      </p:pic>
      <p:sp>
        <p:nvSpPr>
          <p:cNvPr id="5" name="Text 1">
            <a:extLst>
              <a:ext uri="{FF2B5EF4-FFF2-40B4-BE49-F238E27FC236}">
                <a16:creationId xmlns:a16="http://schemas.microsoft.com/office/drawing/2014/main" id="{91B11F4A-B3A6-3AE1-ECB1-635FD8F0D064}"/>
              </a:ext>
            </a:extLst>
          </p:cNvPr>
          <p:cNvSpPr/>
          <p:nvPr/>
        </p:nvSpPr>
        <p:spPr>
          <a:xfrm>
            <a:off x="571500" y="471418"/>
            <a:ext cx="8001000" cy="800100"/>
          </a:xfrm>
          <a:prstGeom prst="rect">
            <a:avLst/>
          </a:prstGeom>
          <a:noFill/>
          <a:ln/>
        </p:spPr>
        <p:txBody>
          <a:bodyPr vert="horz" wrap="square" lIns="0" tIns="0" rIns="0" bIns="0" rtlCol="0" anchor="ctr"/>
          <a:lstStyle/>
          <a:p>
            <a:pPr>
              <a:lnSpc>
                <a:spcPts val="3150"/>
              </a:lnSpc>
            </a:pPr>
            <a:r>
              <a:rPr lang="zh-CN" altLang="en-US" sz="2250" b="1" dirty="0">
                <a:solidFill>
                  <a:srgbClr val="FFFFFF"/>
                </a:solidFill>
                <a:latin typeface="Microsoft YaHei" pitchFamily="34" charset="0"/>
                <a:ea typeface="Microsoft YaHei" pitchFamily="34" charset="-122"/>
              </a:rPr>
              <a:t>测试项目评述</a:t>
            </a:r>
            <a:endParaRPr lang="en-US" sz="2250" b="1" dirty="0">
              <a:solidFill>
                <a:srgbClr val="FFFFFF"/>
              </a:solidFill>
              <a:latin typeface="Microsoft YaHei" pitchFamily="34" charset="0"/>
              <a:ea typeface="Microsoft YaHei" pitchFamily="34" charset="-122"/>
            </a:endParaRPr>
          </a:p>
        </p:txBody>
      </p:sp>
      <p:sp>
        <p:nvSpPr>
          <p:cNvPr id="6" name="Text 2">
            <a:extLst>
              <a:ext uri="{FF2B5EF4-FFF2-40B4-BE49-F238E27FC236}">
                <a16:creationId xmlns:a16="http://schemas.microsoft.com/office/drawing/2014/main" id="{86223B04-495A-306C-0F62-D2C841F731A0}"/>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9" name="文本框 8">
            <a:extLst>
              <a:ext uri="{FF2B5EF4-FFF2-40B4-BE49-F238E27FC236}">
                <a16:creationId xmlns:a16="http://schemas.microsoft.com/office/drawing/2014/main" id="{D20371D5-9D24-6999-9DDF-A4881926B3DB}"/>
              </a:ext>
            </a:extLst>
          </p:cNvPr>
          <p:cNvSpPr txBox="1"/>
          <p:nvPr/>
        </p:nvSpPr>
        <p:spPr>
          <a:xfrm>
            <a:off x="471971" y="1556324"/>
            <a:ext cx="7048501" cy="3419013"/>
          </a:xfrm>
          <a:prstGeom prst="rect">
            <a:avLst/>
          </a:prstGeom>
          <a:noFill/>
        </p:spPr>
        <p:txBody>
          <a:bodyPr wrap="squar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核心测试重点</a:t>
            </a:r>
            <a:r>
              <a:rPr lang="zh-CN" altLang="en-US" dirty="0">
                <a:latin typeface="微软雅黑" panose="020B0503020204020204" pitchFamily="34" charset="-122"/>
                <a:ea typeface="微软雅黑" panose="020B0503020204020204" pitchFamily="34" charset="-122"/>
              </a:rPr>
              <a:t>：​</a:t>
            </a:r>
          </a:p>
          <a:p>
            <a:pPr fontAlgn="auto">
              <a:lnSpc>
                <a:spcPct val="150000"/>
              </a:lnSpc>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前后端接口兼容性：</a:t>
            </a:r>
            <a:r>
              <a:rPr lang="en-US" altLang="zh-CN" sz="1600" dirty="0">
                <a:latin typeface="微软雅黑" panose="020B0503020204020204" pitchFamily="34" charset="-122"/>
                <a:ea typeface="微软雅黑" panose="020B0503020204020204" pitchFamily="34" charset="-122"/>
              </a:rPr>
              <a:t>Electron </a:t>
            </a:r>
            <a:r>
              <a:rPr lang="zh-CN" altLang="en-US" sz="1600" dirty="0">
                <a:latin typeface="微软雅黑" panose="020B0503020204020204" pitchFamily="34" charset="-122"/>
                <a:ea typeface="微软雅黑" panose="020B0503020204020204" pitchFamily="34" charset="-122"/>
              </a:rPr>
              <a:t>应用的请求格式与 </a:t>
            </a:r>
            <a:r>
              <a:rPr lang="en-US" altLang="zh-CN" sz="1600" dirty="0" err="1">
                <a:latin typeface="微软雅黑" panose="020B0503020204020204" pitchFamily="34" charset="-122"/>
                <a:ea typeface="微软雅黑" panose="020B0503020204020204" pitchFamily="34" charset="-122"/>
              </a:rPr>
              <a:t>SpringBoot</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接口的参数要求是否一致（如 </a:t>
            </a:r>
            <a:r>
              <a:rPr lang="en-US" altLang="zh-CN" sz="1600" dirty="0">
                <a:latin typeface="微软雅黑" panose="020B0503020204020204" pitchFamily="34" charset="-122"/>
                <a:ea typeface="微软雅黑" panose="020B0503020204020204" pitchFamily="34" charset="-122"/>
              </a:rPr>
              <a:t>JSON </a:t>
            </a:r>
            <a:r>
              <a:rPr lang="zh-CN" altLang="en-US" sz="1600" dirty="0">
                <a:latin typeface="微软雅黑" panose="020B0503020204020204" pitchFamily="34" charset="-122"/>
                <a:ea typeface="微软雅黑" panose="020B0503020204020204" pitchFamily="34" charset="-122"/>
              </a:rPr>
              <a:t>格式、请求头）；​</a:t>
            </a:r>
          </a:p>
          <a:p>
            <a:pPr fontAlgn="auto">
              <a:lnSpc>
                <a:spcPct val="150000"/>
              </a:lnSpc>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数据库交互稳定性：</a:t>
            </a:r>
            <a:r>
              <a:rPr lang="zh-CN" altLang="en-US" sz="1600" dirty="0">
                <a:latin typeface="微软雅黑" panose="020B0503020204020204" pitchFamily="34" charset="-122"/>
                <a:ea typeface="微软雅黑" panose="020B0503020204020204" pitchFamily="34" charset="-122"/>
              </a:rPr>
              <a:t>高并发场景下（如多用户同时提交数据），数据库是否出现死锁、数据一致性问题；​</a:t>
            </a:r>
          </a:p>
          <a:p>
            <a:pPr fontAlgn="auto">
              <a:lnSpc>
                <a:spcPct val="150000"/>
              </a:lnSpc>
            </a:pPr>
            <a:r>
              <a:rPr lang="en-US" altLang="zh-CN" sz="1600" dirty="0">
                <a:solidFill>
                  <a:schemeClr val="accent1">
                    <a:lumMod val="75000"/>
                  </a:schemeClr>
                </a:solidFill>
                <a:latin typeface="微软雅黑" panose="020B0503020204020204" pitchFamily="34" charset="-122"/>
                <a:ea typeface="微软雅黑" panose="020B0503020204020204" pitchFamily="34" charset="-122"/>
              </a:rPr>
              <a:t>Electron </a:t>
            </a: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应用特性：</a:t>
            </a:r>
            <a:r>
              <a:rPr lang="en-US" altLang="zh-CN" sz="1600" dirty="0">
                <a:latin typeface="微软雅黑" panose="020B0503020204020204" pitchFamily="34" charset="-122"/>
                <a:ea typeface="微软雅黑" panose="020B0503020204020204" pitchFamily="34" charset="-122"/>
              </a:rPr>
              <a:t>Windows </a:t>
            </a:r>
            <a:r>
              <a:rPr lang="zh-CN" altLang="en-US" sz="1600" dirty="0">
                <a:latin typeface="微软雅黑" panose="020B0503020204020204" pitchFamily="34" charset="-122"/>
                <a:ea typeface="微软雅黑" panose="020B0503020204020204" pitchFamily="34" charset="-122"/>
              </a:rPr>
              <a:t>系统下的安装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卸载流程、桌面快捷方式有效性、应用崩溃后的恢复机制；​</a:t>
            </a:r>
          </a:p>
          <a:p>
            <a:pPr fontAlgn="auto">
              <a:lnSpc>
                <a:spcPct val="150000"/>
              </a:lnSpc>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部署流程易用性：</a:t>
            </a:r>
            <a:r>
              <a:rPr lang="zh-CN" altLang="en-US" sz="1600" dirty="0">
                <a:latin typeface="微软雅黑" panose="020B0503020204020204" pitchFamily="34" charset="-122"/>
                <a:ea typeface="微软雅黑" panose="020B0503020204020204" pitchFamily="34" charset="-122"/>
              </a:rPr>
              <a:t>用户是否能按文档完成部署，无需复杂配置（如环境变量、端口修改）。</a:t>
            </a:r>
          </a:p>
        </p:txBody>
      </p:sp>
    </p:spTree>
    <p:extLst>
      <p:ext uri="{BB962C8B-B14F-4D97-AF65-F5344CB8AC3E}">
        <p14:creationId xmlns:p14="http://schemas.microsoft.com/office/powerpoint/2010/main" val="54892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0C343-D168-8DE4-9E10-26A6C8F6456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96098B7-A8DE-BD25-FDF5-CE23210FD585}"/>
              </a:ext>
            </a:extLst>
          </p:cNvPr>
          <p:cNvPicPr>
            <a:picLocks noChangeAspect="1"/>
          </p:cNvPicPr>
          <p:nvPr/>
        </p:nvPicPr>
        <p:blipFill>
          <a:blip r:embed="rId3"/>
          <a:srcRect/>
          <a:stretch/>
        </p:blipFill>
        <p:spPr>
          <a:xfrm>
            <a:off x="0" y="0"/>
            <a:ext cx="9144000" cy="5143500"/>
          </a:xfrm>
          <a:prstGeom prst="rect">
            <a:avLst/>
          </a:prstGeom>
        </p:spPr>
      </p:pic>
      <p:sp>
        <p:nvSpPr>
          <p:cNvPr id="3" name="Text 0">
            <a:extLst>
              <a:ext uri="{FF2B5EF4-FFF2-40B4-BE49-F238E27FC236}">
                <a16:creationId xmlns:a16="http://schemas.microsoft.com/office/drawing/2014/main" id="{4F773D5B-2DAC-0E9D-5CB4-81E459BBD3CD}"/>
              </a:ext>
            </a:extLst>
          </p:cNvPr>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zh-CN" altLang="en-US" sz="3750" b="1" dirty="0">
                <a:solidFill>
                  <a:srgbClr val="FFFFFF"/>
                </a:solidFill>
                <a:latin typeface="Microsoft YaHei" pitchFamily="34" charset="0"/>
                <a:ea typeface="Microsoft YaHei" pitchFamily="34" charset="-122"/>
              </a:rPr>
              <a:t>成员过程体会</a:t>
            </a:r>
            <a:endParaRPr lang="en-US" altLang="zh-CN" sz="3750" b="1" dirty="0">
              <a:solidFill>
                <a:srgbClr val="FFFFFF"/>
              </a:solidFill>
              <a:latin typeface="Microsoft YaHei" pitchFamily="34" charset="0"/>
              <a:ea typeface="Microsoft YaHei" pitchFamily="34" charset="-122"/>
            </a:endParaRPr>
          </a:p>
        </p:txBody>
      </p:sp>
      <p:sp>
        <p:nvSpPr>
          <p:cNvPr id="4" name="Shape 1">
            <a:extLst>
              <a:ext uri="{FF2B5EF4-FFF2-40B4-BE49-F238E27FC236}">
                <a16:creationId xmlns:a16="http://schemas.microsoft.com/office/drawing/2014/main" id="{0CC013B3-AAD8-7CB5-2537-1693F67626DE}"/>
              </a:ext>
            </a:extLst>
          </p:cNvPr>
          <p:cNvSpPr/>
          <p:nvPr/>
        </p:nvSpPr>
        <p:spPr>
          <a:xfrm>
            <a:off x="571500" y="4157662"/>
            <a:ext cx="4762500" cy="14288"/>
          </a:xfrm>
          <a:prstGeom prst="rect">
            <a:avLst/>
          </a:prstGeom>
          <a:solidFill>
            <a:srgbClr val="FFFFFF">
              <a:alpha val="30000"/>
            </a:srgbClr>
          </a:solidFill>
          <a:ln/>
        </p:spPr>
      </p:sp>
      <p:sp>
        <p:nvSpPr>
          <p:cNvPr id="5" name="Text 2">
            <a:extLst>
              <a:ext uri="{FF2B5EF4-FFF2-40B4-BE49-F238E27FC236}">
                <a16:creationId xmlns:a16="http://schemas.microsoft.com/office/drawing/2014/main" id="{5A08986C-273A-9172-A0D3-9F173E8D3F56}"/>
              </a:ext>
            </a:extLst>
          </p:cNvPr>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a:extLst>
              <a:ext uri="{FF2B5EF4-FFF2-40B4-BE49-F238E27FC236}">
                <a16:creationId xmlns:a16="http://schemas.microsoft.com/office/drawing/2014/main" id="{2767C57A-9010-C07E-235B-9D960890292F}"/>
              </a:ext>
            </a:extLst>
          </p:cNvPr>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9F5FF"/>
                </a:solidFill>
                <a:latin typeface="Microsoft YaHei" pitchFamily="34" charset="0"/>
                <a:ea typeface="Microsoft YaHei" pitchFamily="34" charset="-122"/>
                <a:cs typeface="Microsoft YaHei" pitchFamily="34" charset="-120"/>
              </a:rPr>
              <a:t>04</a:t>
            </a:r>
            <a:endParaRPr lang="en-US" sz="22500" dirty="0"/>
          </a:p>
        </p:txBody>
      </p:sp>
    </p:spTree>
    <p:extLst>
      <p:ext uri="{BB962C8B-B14F-4D97-AF65-F5344CB8AC3E}">
        <p14:creationId xmlns:p14="http://schemas.microsoft.com/office/powerpoint/2010/main" val="2455548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E21F-0C0C-88AE-E4C6-9F561B5D24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511FE7B-4F6E-8EC5-F63B-6FD6029C8E14}"/>
              </a:ext>
            </a:extLst>
          </p:cNvPr>
          <p:cNvSpPr/>
          <p:nvPr/>
        </p:nvSpPr>
        <p:spPr>
          <a:xfrm>
            <a:off x="0" y="0"/>
            <a:ext cx="9144000" cy="5838825"/>
          </a:xfrm>
          <a:prstGeom prst="rect">
            <a:avLst/>
          </a:prstGeom>
          <a:solidFill>
            <a:srgbClr val="FFFFFF"/>
          </a:solidFill>
          <a:ln/>
        </p:spPr>
      </p:sp>
      <p:pic>
        <p:nvPicPr>
          <p:cNvPr id="3" name="Image 0" descr="preencoded.png">
            <a:extLst>
              <a:ext uri="{FF2B5EF4-FFF2-40B4-BE49-F238E27FC236}">
                <a16:creationId xmlns:a16="http://schemas.microsoft.com/office/drawing/2014/main" id="{4C78C787-B0ED-5669-41D0-C2AA45659ABA}"/>
              </a:ext>
            </a:extLst>
          </p:cNvPr>
          <p:cNvPicPr>
            <a:picLocks noChangeAspect="1"/>
          </p:cNvPicPr>
          <p:nvPr/>
        </p:nvPicPr>
        <p:blipFill>
          <a:blip r:embed="rId3"/>
          <a:srcRect l="5954" r="5954"/>
          <a:stretch/>
        </p:blipFill>
        <p:spPr>
          <a:xfrm>
            <a:off x="0" y="-1"/>
            <a:ext cx="9144000" cy="5838825"/>
          </a:xfrm>
          <a:prstGeom prst="rect">
            <a:avLst/>
          </a:prstGeom>
        </p:spPr>
      </p:pic>
      <p:sp>
        <p:nvSpPr>
          <p:cNvPr id="4" name="Text 1">
            <a:extLst>
              <a:ext uri="{FF2B5EF4-FFF2-40B4-BE49-F238E27FC236}">
                <a16:creationId xmlns:a16="http://schemas.microsoft.com/office/drawing/2014/main" id="{6E005D58-4FD3-2B8A-6B1D-FD5BF606201F}"/>
              </a:ext>
            </a:extLst>
          </p:cNvPr>
          <p:cNvSpPr/>
          <p:nvPr/>
        </p:nvSpPr>
        <p:spPr>
          <a:xfrm>
            <a:off x="571500" y="213886"/>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过程体会</a:t>
            </a:r>
            <a:endParaRPr lang="en-US" sz="2250" dirty="0"/>
          </a:p>
        </p:txBody>
      </p:sp>
      <p:sp>
        <p:nvSpPr>
          <p:cNvPr id="5" name="Text 2">
            <a:extLst>
              <a:ext uri="{FF2B5EF4-FFF2-40B4-BE49-F238E27FC236}">
                <a16:creationId xmlns:a16="http://schemas.microsoft.com/office/drawing/2014/main" id="{27A87666-BCE1-A890-AC29-FABE948AD840}"/>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F7F87876-BA17-419D-9C88-50C2D9D01F4F}"/>
              </a:ext>
            </a:extLst>
          </p:cNvPr>
          <p:cNvSpPr txBox="1"/>
          <p:nvPr/>
        </p:nvSpPr>
        <p:spPr>
          <a:xfrm>
            <a:off x="901958" y="1013986"/>
            <a:ext cx="6861110" cy="1200329"/>
          </a:xfrm>
          <a:prstGeom prst="rect">
            <a:avLst/>
          </a:prstGeom>
          <a:noFill/>
        </p:spPr>
        <p:txBody>
          <a:bodyPr wrap="square" rtlCol="0">
            <a:spAutoFit/>
          </a:bodyPr>
          <a:lstStyle/>
          <a:p>
            <a:r>
              <a:rPr lang="en-US" altLang="zh-CN" dirty="0"/>
              <a:t>PM</a:t>
            </a:r>
            <a:r>
              <a:rPr lang="zh-CN" altLang="en-US" dirty="0"/>
              <a:t>：第一次做项目经理还是充满挑战的，对于成员的协调其实比想象中的困难很多，尤其是在集中开会讨论的时候，</a:t>
            </a:r>
            <a:r>
              <a:rPr lang="en-US" altLang="zh-CN" dirty="0"/>
              <a:t>11</a:t>
            </a:r>
            <a:r>
              <a:rPr lang="zh-CN" altLang="en-US" dirty="0"/>
              <a:t>个团队成员大部分时间很难到齐。此外，由于成员们的开发经验不足，在实际开发中会遇到更多挑战。</a:t>
            </a:r>
          </a:p>
        </p:txBody>
      </p:sp>
      <p:sp>
        <p:nvSpPr>
          <p:cNvPr id="8" name="文本框 7">
            <a:extLst>
              <a:ext uri="{FF2B5EF4-FFF2-40B4-BE49-F238E27FC236}">
                <a16:creationId xmlns:a16="http://schemas.microsoft.com/office/drawing/2014/main" id="{AB693710-5A13-1A1D-8849-566CCB030EFD}"/>
              </a:ext>
            </a:extLst>
          </p:cNvPr>
          <p:cNvSpPr txBox="1"/>
          <p:nvPr/>
        </p:nvSpPr>
        <p:spPr>
          <a:xfrm>
            <a:off x="901959" y="2343329"/>
            <a:ext cx="6861110" cy="923330"/>
          </a:xfrm>
          <a:prstGeom prst="rect">
            <a:avLst/>
          </a:prstGeom>
          <a:noFill/>
        </p:spPr>
        <p:txBody>
          <a:bodyPr wrap="square" rtlCol="0">
            <a:spAutoFit/>
          </a:bodyPr>
          <a:lstStyle/>
          <a:p>
            <a:r>
              <a:rPr lang="zh-CN" altLang="en-US" dirty="0"/>
              <a:t>范智杰：在本次软件工程项目中，实际参与完整的开发流程让我深刻体会到团队协作与系统设计的重要性，培养了在压力下快速定位问题和解决问题的能力。</a:t>
            </a:r>
          </a:p>
        </p:txBody>
      </p:sp>
      <p:sp>
        <p:nvSpPr>
          <p:cNvPr id="10" name="文本框 9">
            <a:extLst>
              <a:ext uri="{FF2B5EF4-FFF2-40B4-BE49-F238E27FC236}">
                <a16:creationId xmlns:a16="http://schemas.microsoft.com/office/drawing/2014/main" id="{AEDB3EE7-7227-9EE7-592E-560501F745D8}"/>
              </a:ext>
            </a:extLst>
          </p:cNvPr>
          <p:cNvSpPr txBox="1"/>
          <p:nvPr/>
        </p:nvSpPr>
        <p:spPr>
          <a:xfrm>
            <a:off x="901959" y="3390850"/>
            <a:ext cx="6861110" cy="1477328"/>
          </a:xfrm>
          <a:prstGeom prst="rect">
            <a:avLst/>
          </a:prstGeom>
          <a:noFill/>
        </p:spPr>
        <p:txBody>
          <a:bodyPr wrap="square" rtlCol="0">
            <a:spAutoFit/>
          </a:bodyPr>
          <a:lstStyle/>
          <a:p>
            <a:r>
              <a:rPr lang="zh-CN" altLang="en-US" dirty="0"/>
              <a:t>林昊：首次担任产品经理，我学会拥抱需求的不确定性，将其视为探索的指南。通过低成本验证与持续追问，将模糊概念转化为用例规约。在</a:t>
            </a:r>
            <a:r>
              <a:rPr lang="en-US" altLang="zh-CN" dirty="0"/>
              <a:t>Figma</a:t>
            </a:r>
            <a:r>
              <a:rPr lang="zh-CN" altLang="en-US" dirty="0"/>
              <a:t>中，我用灰度框架奠基，通过组件化设计与可交互原型，让想法可视化，凝聚团队共识，完成从功能罗列到用户体验的思维蜕变。</a:t>
            </a:r>
          </a:p>
        </p:txBody>
      </p:sp>
    </p:spTree>
    <p:extLst>
      <p:ext uri="{BB962C8B-B14F-4D97-AF65-F5344CB8AC3E}">
        <p14:creationId xmlns:p14="http://schemas.microsoft.com/office/powerpoint/2010/main" val="3750855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94FC-11F4-EAB5-BC8C-0FE71153FB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A33EEB-E649-B1AE-E171-7E0C1C4A74C1}"/>
              </a:ext>
            </a:extLst>
          </p:cNvPr>
          <p:cNvSpPr/>
          <p:nvPr/>
        </p:nvSpPr>
        <p:spPr>
          <a:xfrm>
            <a:off x="0" y="0"/>
            <a:ext cx="9144000" cy="5838825"/>
          </a:xfrm>
          <a:prstGeom prst="rect">
            <a:avLst/>
          </a:prstGeom>
          <a:solidFill>
            <a:srgbClr val="FFFFFF"/>
          </a:solidFill>
          <a:ln/>
        </p:spPr>
      </p:sp>
      <p:pic>
        <p:nvPicPr>
          <p:cNvPr id="3" name="Image 0" descr="preencoded.png">
            <a:extLst>
              <a:ext uri="{FF2B5EF4-FFF2-40B4-BE49-F238E27FC236}">
                <a16:creationId xmlns:a16="http://schemas.microsoft.com/office/drawing/2014/main" id="{7280F379-7748-71D1-138F-D02D91AC24E4}"/>
              </a:ext>
            </a:extLst>
          </p:cNvPr>
          <p:cNvPicPr>
            <a:picLocks noChangeAspect="1"/>
          </p:cNvPicPr>
          <p:nvPr/>
        </p:nvPicPr>
        <p:blipFill>
          <a:blip r:embed="rId3"/>
          <a:srcRect l="5954" r="5954"/>
          <a:stretch/>
        </p:blipFill>
        <p:spPr>
          <a:xfrm>
            <a:off x="0" y="-1"/>
            <a:ext cx="9144000" cy="5838825"/>
          </a:xfrm>
          <a:prstGeom prst="rect">
            <a:avLst/>
          </a:prstGeom>
        </p:spPr>
      </p:pic>
      <p:sp>
        <p:nvSpPr>
          <p:cNvPr id="4" name="Text 1">
            <a:extLst>
              <a:ext uri="{FF2B5EF4-FFF2-40B4-BE49-F238E27FC236}">
                <a16:creationId xmlns:a16="http://schemas.microsoft.com/office/drawing/2014/main" id="{99789151-D67A-783F-C102-4AC7E4EC3708}"/>
              </a:ext>
            </a:extLst>
          </p:cNvPr>
          <p:cNvSpPr/>
          <p:nvPr/>
        </p:nvSpPr>
        <p:spPr>
          <a:xfrm>
            <a:off x="571500" y="238708"/>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过程体会</a:t>
            </a:r>
            <a:endParaRPr lang="en-US" sz="2250" dirty="0"/>
          </a:p>
        </p:txBody>
      </p:sp>
      <p:sp>
        <p:nvSpPr>
          <p:cNvPr id="5" name="Text 2">
            <a:extLst>
              <a:ext uri="{FF2B5EF4-FFF2-40B4-BE49-F238E27FC236}">
                <a16:creationId xmlns:a16="http://schemas.microsoft.com/office/drawing/2014/main" id="{56AAC62A-D611-C4E5-4B62-6735024D639C}"/>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6BE50BF8-87E5-A0A7-656A-D126C6CB20C6}"/>
              </a:ext>
            </a:extLst>
          </p:cNvPr>
          <p:cNvSpPr txBox="1"/>
          <p:nvPr/>
        </p:nvSpPr>
        <p:spPr>
          <a:xfrm>
            <a:off x="901959" y="1094422"/>
            <a:ext cx="6730482" cy="1477328"/>
          </a:xfrm>
          <a:prstGeom prst="rect">
            <a:avLst/>
          </a:prstGeom>
          <a:noFill/>
        </p:spPr>
        <p:txBody>
          <a:bodyPr wrap="square" rtlCol="0">
            <a:spAutoFit/>
          </a:bodyPr>
          <a:lstStyle/>
          <a:p>
            <a:r>
              <a:rPr lang="zh-CN" altLang="en-US" dirty="0"/>
              <a:t>郭砚康：开发中期主打一个又菜又爱玩，前后端接口动不动就改，我的测试用例就像追连载小说</a:t>
            </a:r>
            <a:r>
              <a:rPr lang="en-US" altLang="zh-CN" dirty="0"/>
              <a:t>——</a:t>
            </a:r>
            <a:r>
              <a:rPr lang="zh-CN" altLang="en-US" dirty="0"/>
              <a:t>永远跟不上最新剧情，一边骂骂咧咧地</a:t>
            </a:r>
            <a:r>
              <a:rPr lang="en-US" altLang="zh-CN" dirty="0"/>
              <a:t>debug</a:t>
            </a:r>
            <a:r>
              <a:rPr lang="zh-CN" altLang="en-US" dirty="0"/>
              <a:t>一边和队友在一起边肝泡面边互相甩锅，但突然跑通全部测试的那个深夜，感觉能直接下楼狂奔两圈，这种痛并快乐着的感觉大概就是成长的滋味吧。</a:t>
            </a:r>
          </a:p>
        </p:txBody>
      </p:sp>
      <p:sp>
        <p:nvSpPr>
          <p:cNvPr id="8" name="文本框 7">
            <a:extLst>
              <a:ext uri="{FF2B5EF4-FFF2-40B4-BE49-F238E27FC236}">
                <a16:creationId xmlns:a16="http://schemas.microsoft.com/office/drawing/2014/main" id="{7B8D0F48-AAF2-B056-5D1F-FD102550B955}"/>
              </a:ext>
            </a:extLst>
          </p:cNvPr>
          <p:cNvSpPr txBox="1"/>
          <p:nvPr/>
        </p:nvSpPr>
        <p:spPr>
          <a:xfrm>
            <a:off x="901959" y="2775288"/>
            <a:ext cx="6842449" cy="2031325"/>
          </a:xfrm>
          <a:prstGeom prst="rect">
            <a:avLst/>
          </a:prstGeom>
          <a:noFill/>
        </p:spPr>
        <p:txBody>
          <a:bodyPr wrap="square" rtlCol="0">
            <a:spAutoFit/>
          </a:bodyPr>
          <a:lstStyle/>
          <a:p>
            <a:r>
              <a:rPr lang="zh-CN" altLang="en-US" dirty="0"/>
              <a:t>张艺宝：开发至此，已进入一个颇为典型的“攻坚期”。核心逻辑虽已部分搭建，但大量的细节正待填充。与前端的对接、边界情况的异常处理、以及因需求微调而带来的代码修订，构成了日常工作的主体。技术上，开始在“快速实现”与“代码质量”之间做出权衡，清楚有些临时方案未来需要重构。心态上，少了初期的兴奋，多了一份沉静的责任感，明白让模块稳定、可靠地运行，是比“完成”更具挑战的目标。</a:t>
            </a:r>
          </a:p>
        </p:txBody>
      </p:sp>
    </p:spTree>
    <p:extLst>
      <p:ext uri="{BB962C8B-B14F-4D97-AF65-F5344CB8AC3E}">
        <p14:creationId xmlns:p14="http://schemas.microsoft.com/office/powerpoint/2010/main" val="1897095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1F74C-9E17-AA11-8389-83CAD0593B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E19499-7780-C0AC-F051-3876306EBA40}"/>
              </a:ext>
            </a:extLst>
          </p:cNvPr>
          <p:cNvSpPr/>
          <p:nvPr/>
        </p:nvSpPr>
        <p:spPr>
          <a:xfrm>
            <a:off x="0" y="0"/>
            <a:ext cx="9144000" cy="5838825"/>
          </a:xfrm>
          <a:prstGeom prst="rect">
            <a:avLst/>
          </a:prstGeom>
          <a:solidFill>
            <a:srgbClr val="FFFFFF"/>
          </a:solidFill>
          <a:ln/>
        </p:spPr>
      </p:sp>
      <p:pic>
        <p:nvPicPr>
          <p:cNvPr id="3" name="Image 0" descr="preencoded.png">
            <a:extLst>
              <a:ext uri="{FF2B5EF4-FFF2-40B4-BE49-F238E27FC236}">
                <a16:creationId xmlns:a16="http://schemas.microsoft.com/office/drawing/2014/main" id="{056269EC-EAC2-0719-45E1-800FF3204201}"/>
              </a:ext>
            </a:extLst>
          </p:cNvPr>
          <p:cNvPicPr>
            <a:picLocks noChangeAspect="1"/>
          </p:cNvPicPr>
          <p:nvPr/>
        </p:nvPicPr>
        <p:blipFill>
          <a:blip r:embed="rId3"/>
          <a:srcRect l="5954" r="5954"/>
          <a:stretch/>
        </p:blipFill>
        <p:spPr>
          <a:xfrm>
            <a:off x="0" y="-1"/>
            <a:ext cx="9144000" cy="5838825"/>
          </a:xfrm>
          <a:prstGeom prst="rect">
            <a:avLst/>
          </a:prstGeom>
        </p:spPr>
      </p:pic>
      <p:sp>
        <p:nvSpPr>
          <p:cNvPr id="4" name="Text 1">
            <a:extLst>
              <a:ext uri="{FF2B5EF4-FFF2-40B4-BE49-F238E27FC236}">
                <a16:creationId xmlns:a16="http://schemas.microsoft.com/office/drawing/2014/main" id="{43BAE96D-C36C-5B83-4477-470A54208BBF}"/>
              </a:ext>
            </a:extLst>
          </p:cNvPr>
          <p:cNvSpPr/>
          <p:nvPr/>
        </p:nvSpPr>
        <p:spPr>
          <a:xfrm>
            <a:off x="571500" y="238708"/>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过程体会</a:t>
            </a:r>
            <a:endParaRPr lang="en-US" sz="2250" dirty="0"/>
          </a:p>
        </p:txBody>
      </p:sp>
      <p:sp>
        <p:nvSpPr>
          <p:cNvPr id="5" name="Text 2">
            <a:extLst>
              <a:ext uri="{FF2B5EF4-FFF2-40B4-BE49-F238E27FC236}">
                <a16:creationId xmlns:a16="http://schemas.microsoft.com/office/drawing/2014/main" id="{2DC27FBB-73AC-4FDA-232A-2081B375AF49}"/>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E1AA0267-D3D9-1983-D47E-587E9CDD462A}"/>
              </a:ext>
            </a:extLst>
          </p:cNvPr>
          <p:cNvSpPr txBox="1"/>
          <p:nvPr/>
        </p:nvSpPr>
        <p:spPr>
          <a:xfrm>
            <a:off x="901959" y="1094422"/>
            <a:ext cx="6730482" cy="1754326"/>
          </a:xfrm>
          <a:prstGeom prst="rect">
            <a:avLst/>
          </a:prstGeom>
          <a:noFill/>
        </p:spPr>
        <p:txBody>
          <a:bodyPr wrap="square" rtlCol="0">
            <a:spAutoFit/>
          </a:bodyPr>
          <a:lstStyle/>
          <a:p>
            <a:r>
              <a:rPr lang="zh-CN" altLang="en-US" dirty="0"/>
              <a:t>余睿康：本次开发过程我负责的是前端部分，这次开发经历让我深刻体会到了从‘静态页面’到‘动态应用’的质变过程，也让我学会了如何根据产品定位选择最合适的技术栈。在连接后端之前我通过本地</a:t>
            </a:r>
            <a:r>
              <a:rPr lang="en-US" altLang="zh-CN" dirty="0"/>
              <a:t>Mock</a:t>
            </a:r>
            <a:r>
              <a:rPr lang="zh-CN" altLang="en-US" dirty="0"/>
              <a:t>数据模拟后端交互，解决了无</a:t>
            </a:r>
            <a:r>
              <a:rPr lang="en-US" altLang="zh-CN" dirty="0"/>
              <a:t>API</a:t>
            </a:r>
            <a:r>
              <a:rPr lang="zh-CN" altLang="en-US" dirty="0"/>
              <a:t>环境下的交互反馈问题，这让我明白了前端不仅仅是 </a:t>
            </a:r>
            <a:r>
              <a:rPr lang="en-US" altLang="zh-CN" dirty="0"/>
              <a:t>UI </a:t>
            </a:r>
            <a:r>
              <a:rPr lang="zh-CN" altLang="en-US" dirty="0"/>
              <a:t>的堆砌，更是对数据流向的精准把控。</a:t>
            </a:r>
          </a:p>
        </p:txBody>
      </p:sp>
      <p:sp>
        <p:nvSpPr>
          <p:cNvPr id="8" name="文本框 7">
            <a:extLst>
              <a:ext uri="{FF2B5EF4-FFF2-40B4-BE49-F238E27FC236}">
                <a16:creationId xmlns:a16="http://schemas.microsoft.com/office/drawing/2014/main" id="{0059F28C-F783-CDE4-7145-69EB237D7074}"/>
              </a:ext>
            </a:extLst>
          </p:cNvPr>
          <p:cNvSpPr txBox="1"/>
          <p:nvPr/>
        </p:nvSpPr>
        <p:spPr>
          <a:xfrm>
            <a:off x="901959" y="3236953"/>
            <a:ext cx="6842449" cy="369332"/>
          </a:xfrm>
          <a:prstGeom prst="rect">
            <a:avLst/>
          </a:prstGeom>
          <a:noFill/>
        </p:spPr>
        <p:txBody>
          <a:bodyPr wrap="square" rtlCol="0">
            <a:spAutoFit/>
          </a:bodyPr>
          <a:lstStyle/>
          <a:p>
            <a:r>
              <a:rPr lang="zh-CN" altLang="en-US" dirty="0"/>
              <a:t>何顺康：开发过程较为艰辛，但也是一次难得的体验。</a:t>
            </a:r>
          </a:p>
        </p:txBody>
      </p:sp>
    </p:spTree>
    <p:extLst>
      <p:ext uri="{BB962C8B-B14F-4D97-AF65-F5344CB8AC3E}">
        <p14:creationId xmlns:p14="http://schemas.microsoft.com/office/powerpoint/2010/main" val="3739028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THANKS</a:t>
            </a:r>
            <a:endParaRPr lang="en-US" sz="3750" dirty="0"/>
          </a:p>
        </p:txBody>
      </p:sp>
      <p:sp>
        <p:nvSpPr>
          <p:cNvPr id="4" name="Shape 1"/>
          <p:cNvSpPr/>
          <p:nvPr/>
        </p:nvSpPr>
        <p:spPr>
          <a:xfrm>
            <a:off x="571500" y="3014663"/>
            <a:ext cx="604838" cy="114300"/>
          </a:xfrm>
          <a:prstGeom prst="rect">
            <a:avLst/>
          </a:prstGeom>
          <a:solidFill>
            <a:srgbClr val="5662EB"/>
          </a:solidFill>
          <a:ln/>
        </p:spPr>
      </p:sp>
      <p:sp>
        <p:nvSpPr>
          <p:cNvPr id="5" name="Text 2"/>
          <p:cNvSpPr/>
          <p:nvPr/>
        </p:nvSpPr>
        <p:spPr>
          <a:xfrm>
            <a:off x="571500" y="3462337"/>
            <a:ext cx="8001000" cy="190500"/>
          </a:xfrm>
          <a:prstGeom prst="rect">
            <a:avLst/>
          </a:prstGeom>
          <a:noFill/>
          <a:ln/>
        </p:spPr>
        <p:txBody>
          <a:bodyPr vert="horz" wrap="square" lIns="0" tIns="0" rIns="0" bIns="0" rtlCol="0" anchor="ctr"/>
          <a:lstStyle/>
          <a:p>
            <a:pPr marL="0" indent="0" algn="l">
              <a:lnSpc>
                <a:spcPts val="1500"/>
              </a:lnSpc>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1624</Words>
  <Application>Microsoft Office PowerPoint</Application>
  <PresentationFormat>全屏显示(16:9)</PresentationFormat>
  <Paragraphs>147</Paragraphs>
  <Slides>24</Slides>
  <Notes>24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等线</vt:lpstr>
      <vt:lpstr>微软雅黑</vt: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Yuxuan Bao</cp:lastModifiedBy>
  <cp:revision>22</cp:revision>
  <dcterms:created xsi:type="dcterms:W3CDTF">2025-11-28T12:52:27Z</dcterms:created>
  <dcterms:modified xsi:type="dcterms:W3CDTF">2025-11-29T08:27:32Z</dcterms:modified>
</cp:coreProperties>
</file>